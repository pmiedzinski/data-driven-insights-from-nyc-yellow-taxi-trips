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Inter" panose="02000503000000020004"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45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349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283976"/>
            <a:ext cx="7556421" cy="223277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Data-Driven Insights from NYC Yellow Taxi Trips (2022)</a:t>
            </a:r>
            <a:endParaRPr lang="en-US" sz="4650" dirty="0"/>
          </a:p>
        </p:txBody>
      </p:sp>
      <p:sp>
        <p:nvSpPr>
          <p:cNvPr id="4" name="Text 1"/>
          <p:cNvSpPr/>
          <p:nvPr/>
        </p:nvSpPr>
        <p:spPr>
          <a:xfrm>
            <a:off x="793790" y="4856917"/>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Supporting revenue optimisation and service performance through comprehensive analysis of pickup patterns, fare structures, and tipping behaviours across all five boroughs.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96835" y="311825"/>
            <a:ext cx="5598200"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Top 5 Pickup and Drop-off Zones in 2022</a:t>
            </a:r>
            <a:endParaRPr lang="en-US" sz="2300" dirty="0"/>
          </a:p>
        </p:txBody>
      </p:sp>
      <p:sp>
        <p:nvSpPr>
          <p:cNvPr id="3" name="Text 1"/>
          <p:cNvSpPr/>
          <p:nvPr/>
        </p:nvSpPr>
        <p:spPr>
          <a:xfrm>
            <a:off x="396835" y="1052236"/>
            <a:ext cx="1786176" cy="223242"/>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Pickup Locations</a:t>
            </a:r>
            <a:endParaRPr lang="en-US" sz="1400" dirty="0"/>
          </a:p>
        </p:txBody>
      </p:sp>
      <p:sp>
        <p:nvSpPr>
          <p:cNvPr id="4" name="Text 2"/>
          <p:cNvSpPr/>
          <p:nvPr/>
        </p:nvSpPr>
        <p:spPr>
          <a:xfrm>
            <a:off x="396835" y="1318022"/>
            <a:ext cx="113348" cy="141684"/>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01</a:t>
            </a:r>
            <a:endParaRPr lang="en-US" sz="850" dirty="0"/>
          </a:p>
        </p:txBody>
      </p:sp>
      <p:sp>
        <p:nvSpPr>
          <p:cNvPr id="5" name="Shape 3"/>
          <p:cNvSpPr/>
          <p:nvPr/>
        </p:nvSpPr>
        <p:spPr>
          <a:xfrm>
            <a:off x="396835" y="1495425"/>
            <a:ext cx="6780014" cy="15240"/>
          </a:xfrm>
          <a:prstGeom prst="rect">
            <a:avLst/>
          </a:prstGeom>
          <a:solidFill>
            <a:srgbClr val="007EBD"/>
          </a:solidFill>
          <a:ln/>
        </p:spPr>
        <p:txBody>
          <a:bodyPr/>
          <a:lstStyle/>
          <a:p>
            <a:endParaRPr lang="en-US"/>
          </a:p>
        </p:txBody>
      </p:sp>
      <p:sp>
        <p:nvSpPr>
          <p:cNvPr id="6" name="Text 4"/>
          <p:cNvSpPr/>
          <p:nvPr/>
        </p:nvSpPr>
        <p:spPr>
          <a:xfrm>
            <a:off x="396835" y="1582579"/>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JFK Airport</a:t>
            </a:r>
            <a:endParaRPr lang="en-US" sz="1150" dirty="0"/>
          </a:p>
        </p:txBody>
      </p:sp>
      <p:sp>
        <p:nvSpPr>
          <p:cNvPr id="7" name="Text 5"/>
          <p:cNvSpPr/>
          <p:nvPr/>
        </p:nvSpPr>
        <p:spPr>
          <a:xfrm>
            <a:off x="396835" y="1764626"/>
            <a:ext cx="6780014" cy="298728"/>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Dominant hub driven by inbound travel demand</a:t>
            </a:r>
            <a:endParaRPr lang="en-US" sz="850" dirty="0"/>
          </a:p>
        </p:txBody>
      </p:sp>
      <p:sp>
        <p:nvSpPr>
          <p:cNvPr id="8" name="Text 6"/>
          <p:cNvSpPr/>
          <p:nvPr/>
        </p:nvSpPr>
        <p:spPr>
          <a:xfrm>
            <a:off x="396835" y="1945958"/>
            <a:ext cx="310736" cy="27027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02</a:t>
            </a:r>
            <a:endParaRPr lang="en-US" sz="850" dirty="0"/>
          </a:p>
        </p:txBody>
      </p:sp>
      <p:sp>
        <p:nvSpPr>
          <p:cNvPr id="9" name="Shape 7"/>
          <p:cNvSpPr/>
          <p:nvPr/>
        </p:nvSpPr>
        <p:spPr>
          <a:xfrm>
            <a:off x="389215" y="2111275"/>
            <a:ext cx="6780014" cy="15240"/>
          </a:xfrm>
          <a:prstGeom prst="rect">
            <a:avLst/>
          </a:prstGeom>
          <a:solidFill>
            <a:srgbClr val="007EBD"/>
          </a:solidFill>
          <a:ln/>
        </p:spPr>
        <p:txBody>
          <a:bodyPr/>
          <a:lstStyle/>
          <a:p>
            <a:endParaRPr lang="en-US"/>
          </a:p>
        </p:txBody>
      </p:sp>
      <p:sp>
        <p:nvSpPr>
          <p:cNvPr id="10" name="Text 8"/>
          <p:cNvSpPr/>
          <p:nvPr/>
        </p:nvSpPr>
        <p:spPr>
          <a:xfrm>
            <a:off x="400526" y="2233314"/>
            <a:ext cx="1511260"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Upper East Side South</a:t>
            </a:r>
            <a:endParaRPr lang="en-US" sz="1150" dirty="0"/>
          </a:p>
        </p:txBody>
      </p:sp>
      <p:sp>
        <p:nvSpPr>
          <p:cNvPr id="11" name="Text 9"/>
          <p:cNvSpPr/>
          <p:nvPr/>
        </p:nvSpPr>
        <p:spPr>
          <a:xfrm>
            <a:off x="396835" y="2400478"/>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Strong two-way passenger flow</a:t>
            </a:r>
            <a:endParaRPr lang="en-US" sz="850" dirty="0"/>
          </a:p>
        </p:txBody>
      </p:sp>
      <p:sp>
        <p:nvSpPr>
          <p:cNvPr id="12" name="Text 10"/>
          <p:cNvSpPr/>
          <p:nvPr/>
        </p:nvSpPr>
        <p:spPr>
          <a:xfrm>
            <a:off x="389215" y="2617649"/>
            <a:ext cx="113348" cy="148530"/>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03</a:t>
            </a:r>
            <a:endParaRPr lang="en-US" sz="850" dirty="0"/>
          </a:p>
        </p:txBody>
      </p:sp>
      <p:sp>
        <p:nvSpPr>
          <p:cNvPr id="13" name="Shape 11"/>
          <p:cNvSpPr/>
          <p:nvPr/>
        </p:nvSpPr>
        <p:spPr>
          <a:xfrm>
            <a:off x="402703" y="2794202"/>
            <a:ext cx="6780014" cy="15240"/>
          </a:xfrm>
          <a:prstGeom prst="rect">
            <a:avLst/>
          </a:prstGeom>
          <a:solidFill>
            <a:srgbClr val="007EBD"/>
          </a:solidFill>
          <a:ln/>
        </p:spPr>
        <p:txBody>
          <a:bodyPr/>
          <a:lstStyle/>
          <a:p>
            <a:endParaRPr lang="en-US"/>
          </a:p>
        </p:txBody>
      </p:sp>
      <p:sp>
        <p:nvSpPr>
          <p:cNvPr id="14" name="Text 12"/>
          <p:cNvSpPr/>
          <p:nvPr/>
        </p:nvSpPr>
        <p:spPr>
          <a:xfrm>
            <a:off x="389215" y="2827853"/>
            <a:ext cx="1514951"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Upper East Side North</a:t>
            </a:r>
            <a:endParaRPr lang="en-US" sz="1150" dirty="0"/>
          </a:p>
        </p:txBody>
      </p:sp>
      <p:sp>
        <p:nvSpPr>
          <p:cNvPr id="15" name="Text 13"/>
          <p:cNvSpPr/>
          <p:nvPr/>
        </p:nvSpPr>
        <p:spPr>
          <a:xfrm>
            <a:off x="396835" y="3028473"/>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Dense residential activity and high demand</a:t>
            </a:r>
            <a:endParaRPr lang="en-US" sz="850" dirty="0"/>
          </a:p>
        </p:txBody>
      </p:sp>
      <p:sp>
        <p:nvSpPr>
          <p:cNvPr id="16" name="Text 14"/>
          <p:cNvSpPr/>
          <p:nvPr/>
        </p:nvSpPr>
        <p:spPr>
          <a:xfrm>
            <a:off x="389215" y="3195935"/>
            <a:ext cx="120968" cy="18913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04</a:t>
            </a:r>
            <a:endParaRPr lang="en-US" sz="850" dirty="0"/>
          </a:p>
        </p:txBody>
      </p:sp>
      <p:sp>
        <p:nvSpPr>
          <p:cNvPr id="17" name="Shape 15"/>
          <p:cNvSpPr/>
          <p:nvPr/>
        </p:nvSpPr>
        <p:spPr>
          <a:xfrm>
            <a:off x="389215" y="3367564"/>
            <a:ext cx="6780014" cy="15240"/>
          </a:xfrm>
          <a:prstGeom prst="rect">
            <a:avLst/>
          </a:prstGeom>
          <a:solidFill>
            <a:srgbClr val="007EBD"/>
          </a:solidFill>
          <a:ln/>
        </p:spPr>
        <p:txBody>
          <a:bodyPr/>
          <a:lstStyle/>
          <a:p>
            <a:endParaRPr lang="en-US"/>
          </a:p>
        </p:txBody>
      </p:sp>
      <p:sp>
        <p:nvSpPr>
          <p:cNvPr id="18" name="Text 16"/>
          <p:cNvSpPr/>
          <p:nvPr/>
        </p:nvSpPr>
        <p:spPr>
          <a:xfrm>
            <a:off x="389215" y="3445309"/>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Midtown Centre</a:t>
            </a:r>
            <a:endParaRPr lang="en-US" sz="1150" dirty="0"/>
          </a:p>
        </p:txBody>
      </p:sp>
      <p:sp>
        <p:nvSpPr>
          <p:cNvPr id="19" name="Text 17"/>
          <p:cNvSpPr/>
          <p:nvPr/>
        </p:nvSpPr>
        <p:spPr>
          <a:xfrm>
            <a:off x="389215" y="3646944"/>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Commercial and tourist hotspot</a:t>
            </a:r>
            <a:endParaRPr lang="en-US" sz="850" dirty="0"/>
          </a:p>
        </p:txBody>
      </p:sp>
      <p:sp>
        <p:nvSpPr>
          <p:cNvPr id="20" name="Text 18"/>
          <p:cNvSpPr/>
          <p:nvPr/>
        </p:nvSpPr>
        <p:spPr>
          <a:xfrm>
            <a:off x="396835" y="3895425"/>
            <a:ext cx="105728" cy="15097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05</a:t>
            </a:r>
            <a:endParaRPr lang="en-US" sz="850" dirty="0"/>
          </a:p>
        </p:txBody>
      </p:sp>
      <p:sp>
        <p:nvSpPr>
          <p:cNvPr id="21" name="Shape 19"/>
          <p:cNvSpPr/>
          <p:nvPr/>
        </p:nvSpPr>
        <p:spPr>
          <a:xfrm>
            <a:off x="380574" y="4081705"/>
            <a:ext cx="6780014" cy="15240"/>
          </a:xfrm>
          <a:prstGeom prst="rect">
            <a:avLst/>
          </a:prstGeom>
          <a:solidFill>
            <a:srgbClr val="007EBD"/>
          </a:solidFill>
          <a:ln/>
        </p:spPr>
        <p:txBody>
          <a:bodyPr/>
          <a:lstStyle/>
          <a:p>
            <a:endParaRPr lang="en-US"/>
          </a:p>
        </p:txBody>
      </p:sp>
      <p:sp>
        <p:nvSpPr>
          <p:cNvPr id="22" name="Text 20"/>
          <p:cNvSpPr/>
          <p:nvPr/>
        </p:nvSpPr>
        <p:spPr>
          <a:xfrm>
            <a:off x="380574" y="4130596"/>
            <a:ext cx="2101691"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Penn Station/Madison Sq West</a:t>
            </a:r>
            <a:endParaRPr lang="en-US" sz="1150" dirty="0"/>
          </a:p>
        </p:txBody>
      </p:sp>
      <p:sp>
        <p:nvSpPr>
          <p:cNvPr id="23" name="Text 21"/>
          <p:cNvSpPr/>
          <p:nvPr/>
        </p:nvSpPr>
        <p:spPr>
          <a:xfrm>
            <a:off x="388194" y="4328451"/>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Major transport interchange</a:t>
            </a:r>
            <a:endParaRPr lang="en-US" sz="850" dirty="0"/>
          </a:p>
        </p:txBody>
      </p:sp>
      <p:sp>
        <p:nvSpPr>
          <p:cNvPr id="24" name="Text 22"/>
          <p:cNvSpPr/>
          <p:nvPr/>
        </p:nvSpPr>
        <p:spPr>
          <a:xfrm>
            <a:off x="7473936" y="1056411"/>
            <a:ext cx="1786176" cy="223242"/>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Drop-off Locations</a:t>
            </a:r>
            <a:endParaRPr lang="en-US" sz="1400" dirty="0"/>
          </a:p>
        </p:txBody>
      </p:sp>
      <p:sp>
        <p:nvSpPr>
          <p:cNvPr id="25" name="Text 23"/>
          <p:cNvSpPr/>
          <p:nvPr/>
        </p:nvSpPr>
        <p:spPr>
          <a:xfrm>
            <a:off x="7461171" y="1318022"/>
            <a:ext cx="113348" cy="141684"/>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01</a:t>
            </a:r>
            <a:endParaRPr lang="en-US" sz="850" dirty="0"/>
          </a:p>
        </p:txBody>
      </p:sp>
      <p:sp>
        <p:nvSpPr>
          <p:cNvPr id="26" name="Shape 24"/>
          <p:cNvSpPr/>
          <p:nvPr/>
        </p:nvSpPr>
        <p:spPr>
          <a:xfrm>
            <a:off x="7461171" y="1495425"/>
            <a:ext cx="6780014" cy="15240"/>
          </a:xfrm>
          <a:prstGeom prst="rect">
            <a:avLst/>
          </a:prstGeom>
          <a:solidFill>
            <a:srgbClr val="007EBD"/>
          </a:solidFill>
          <a:ln/>
        </p:spPr>
        <p:txBody>
          <a:bodyPr/>
          <a:lstStyle/>
          <a:p>
            <a:endParaRPr lang="en-US"/>
          </a:p>
        </p:txBody>
      </p:sp>
      <p:sp>
        <p:nvSpPr>
          <p:cNvPr id="27" name="Text 25"/>
          <p:cNvSpPr/>
          <p:nvPr/>
        </p:nvSpPr>
        <p:spPr>
          <a:xfrm>
            <a:off x="7461171" y="1582579"/>
            <a:ext cx="1514951"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Upper East Side North</a:t>
            </a:r>
            <a:endParaRPr lang="en-US" sz="1150" dirty="0"/>
          </a:p>
        </p:txBody>
      </p:sp>
      <p:sp>
        <p:nvSpPr>
          <p:cNvPr id="28" name="Text 26"/>
          <p:cNvSpPr/>
          <p:nvPr/>
        </p:nvSpPr>
        <p:spPr>
          <a:xfrm>
            <a:off x="7453551" y="1806375"/>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Top residential destination zone</a:t>
            </a:r>
            <a:endParaRPr lang="en-US" sz="850" dirty="0"/>
          </a:p>
        </p:txBody>
      </p:sp>
      <p:sp>
        <p:nvSpPr>
          <p:cNvPr id="29" name="Text 27"/>
          <p:cNvSpPr/>
          <p:nvPr/>
        </p:nvSpPr>
        <p:spPr>
          <a:xfrm rot="10800000" flipV="1">
            <a:off x="7473934" y="1941475"/>
            <a:ext cx="100584" cy="173750"/>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02</a:t>
            </a:r>
            <a:endParaRPr lang="en-US" sz="850" dirty="0"/>
          </a:p>
        </p:txBody>
      </p:sp>
      <p:sp>
        <p:nvSpPr>
          <p:cNvPr id="30" name="Shape 28"/>
          <p:cNvSpPr/>
          <p:nvPr/>
        </p:nvSpPr>
        <p:spPr>
          <a:xfrm>
            <a:off x="7453551" y="2123039"/>
            <a:ext cx="6780014" cy="15240"/>
          </a:xfrm>
          <a:prstGeom prst="rect">
            <a:avLst/>
          </a:prstGeom>
          <a:solidFill>
            <a:srgbClr val="007EBD"/>
          </a:solidFill>
          <a:ln/>
        </p:spPr>
        <p:txBody>
          <a:bodyPr/>
          <a:lstStyle/>
          <a:p>
            <a:endParaRPr lang="en-US"/>
          </a:p>
        </p:txBody>
      </p:sp>
      <p:sp>
        <p:nvSpPr>
          <p:cNvPr id="31" name="Text 29"/>
          <p:cNvSpPr/>
          <p:nvPr/>
        </p:nvSpPr>
        <p:spPr>
          <a:xfrm>
            <a:off x="7461171" y="2242866"/>
            <a:ext cx="1511260"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Upper East Side South</a:t>
            </a:r>
            <a:endParaRPr lang="en-US" sz="1150" dirty="0"/>
          </a:p>
        </p:txBody>
      </p:sp>
      <p:sp>
        <p:nvSpPr>
          <p:cNvPr id="32" name="Text 30"/>
          <p:cNvSpPr/>
          <p:nvPr/>
        </p:nvSpPr>
        <p:spPr>
          <a:xfrm>
            <a:off x="7453551" y="2434355"/>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Consistent inbound traffic patterns</a:t>
            </a:r>
            <a:endParaRPr lang="en-US" sz="850" dirty="0"/>
          </a:p>
        </p:txBody>
      </p:sp>
      <p:sp>
        <p:nvSpPr>
          <p:cNvPr id="33" name="Text 31"/>
          <p:cNvSpPr/>
          <p:nvPr/>
        </p:nvSpPr>
        <p:spPr>
          <a:xfrm>
            <a:off x="7473933" y="2605838"/>
            <a:ext cx="100585" cy="741247"/>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03</a:t>
            </a:r>
            <a:endParaRPr lang="en-US" sz="850" dirty="0"/>
          </a:p>
        </p:txBody>
      </p:sp>
      <p:sp>
        <p:nvSpPr>
          <p:cNvPr id="34" name="Shape 32"/>
          <p:cNvSpPr/>
          <p:nvPr/>
        </p:nvSpPr>
        <p:spPr>
          <a:xfrm>
            <a:off x="7453551" y="2805592"/>
            <a:ext cx="6780014" cy="15240"/>
          </a:xfrm>
          <a:prstGeom prst="rect">
            <a:avLst/>
          </a:prstGeom>
          <a:solidFill>
            <a:srgbClr val="007EBD"/>
          </a:solidFill>
          <a:ln/>
        </p:spPr>
        <p:txBody>
          <a:bodyPr/>
          <a:lstStyle/>
          <a:p>
            <a:endParaRPr lang="en-US"/>
          </a:p>
        </p:txBody>
      </p:sp>
      <p:sp>
        <p:nvSpPr>
          <p:cNvPr id="35" name="Text 33"/>
          <p:cNvSpPr/>
          <p:nvPr/>
        </p:nvSpPr>
        <p:spPr>
          <a:xfrm>
            <a:off x="7453551" y="2868635"/>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Midtown Centre</a:t>
            </a:r>
            <a:endParaRPr lang="en-US" sz="1150" dirty="0"/>
          </a:p>
        </p:txBody>
      </p:sp>
      <p:sp>
        <p:nvSpPr>
          <p:cNvPr id="36" name="Text 34"/>
          <p:cNvSpPr/>
          <p:nvPr/>
        </p:nvSpPr>
        <p:spPr>
          <a:xfrm>
            <a:off x="7453551" y="3028473"/>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Primary employment and leisure hub</a:t>
            </a:r>
            <a:endParaRPr lang="en-US" sz="850" dirty="0"/>
          </a:p>
        </p:txBody>
      </p:sp>
      <p:sp>
        <p:nvSpPr>
          <p:cNvPr id="37" name="Text 35"/>
          <p:cNvSpPr/>
          <p:nvPr/>
        </p:nvSpPr>
        <p:spPr>
          <a:xfrm>
            <a:off x="7468791" y="3209924"/>
            <a:ext cx="105727" cy="13716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04</a:t>
            </a:r>
            <a:endParaRPr lang="en-US" sz="850" dirty="0"/>
          </a:p>
        </p:txBody>
      </p:sp>
      <p:sp>
        <p:nvSpPr>
          <p:cNvPr id="38" name="Shape 36"/>
          <p:cNvSpPr/>
          <p:nvPr/>
        </p:nvSpPr>
        <p:spPr>
          <a:xfrm>
            <a:off x="7453551" y="3369197"/>
            <a:ext cx="6780014" cy="15240"/>
          </a:xfrm>
          <a:prstGeom prst="rect">
            <a:avLst/>
          </a:prstGeom>
          <a:solidFill>
            <a:srgbClr val="007EBD"/>
          </a:solidFill>
          <a:ln/>
        </p:spPr>
        <p:txBody>
          <a:bodyPr/>
          <a:lstStyle/>
          <a:p>
            <a:endParaRPr lang="en-US"/>
          </a:p>
        </p:txBody>
      </p:sp>
      <p:sp>
        <p:nvSpPr>
          <p:cNvPr id="39" name="Text 37"/>
          <p:cNvSpPr/>
          <p:nvPr/>
        </p:nvSpPr>
        <p:spPr>
          <a:xfrm>
            <a:off x="7451178" y="3443883"/>
            <a:ext cx="2101691"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Penn Station/Madison Sq West</a:t>
            </a:r>
            <a:endParaRPr lang="en-US" sz="1150" dirty="0"/>
          </a:p>
        </p:txBody>
      </p:sp>
      <p:sp>
        <p:nvSpPr>
          <p:cNvPr id="40" name="Text 38"/>
          <p:cNvSpPr/>
          <p:nvPr/>
        </p:nvSpPr>
        <p:spPr>
          <a:xfrm>
            <a:off x="7451178" y="3646173"/>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Major transport interchange</a:t>
            </a:r>
            <a:endParaRPr lang="en-US" sz="850" dirty="0"/>
          </a:p>
        </p:txBody>
      </p:sp>
      <p:sp>
        <p:nvSpPr>
          <p:cNvPr id="41" name="Text 39"/>
          <p:cNvSpPr/>
          <p:nvPr/>
        </p:nvSpPr>
        <p:spPr>
          <a:xfrm>
            <a:off x="7468791" y="3882688"/>
            <a:ext cx="105727" cy="13573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Petrona Light" pitchFamily="34" charset="0"/>
                <a:ea typeface="Petrona Light" pitchFamily="34" charset="-122"/>
                <a:cs typeface="Petrona Light" pitchFamily="34" charset="-120"/>
              </a:rPr>
              <a:t>05</a:t>
            </a:r>
            <a:endParaRPr lang="en-US" sz="850" dirty="0"/>
          </a:p>
        </p:txBody>
      </p:sp>
      <p:sp>
        <p:nvSpPr>
          <p:cNvPr id="42" name="Shape 40"/>
          <p:cNvSpPr/>
          <p:nvPr/>
        </p:nvSpPr>
        <p:spPr>
          <a:xfrm>
            <a:off x="7451178" y="4081705"/>
            <a:ext cx="6780014" cy="15240"/>
          </a:xfrm>
          <a:prstGeom prst="rect">
            <a:avLst/>
          </a:prstGeom>
          <a:solidFill>
            <a:srgbClr val="007EBD"/>
          </a:solidFill>
          <a:ln/>
        </p:spPr>
        <p:txBody>
          <a:bodyPr/>
          <a:lstStyle/>
          <a:p>
            <a:endParaRPr lang="en-US"/>
          </a:p>
        </p:txBody>
      </p:sp>
      <p:sp>
        <p:nvSpPr>
          <p:cNvPr id="43" name="Text 41"/>
          <p:cNvSpPr/>
          <p:nvPr/>
        </p:nvSpPr>
        <p:spPr>
          <a:xfrm>
            <a:off x="7468791" y="4157917"/>
            <a:ext cx="2084903"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Times Square/Theatre District</a:t>
            </a:r>
            <a:endParaRPr lang="en-US" sz="1150" dirty="0"/>
          </a:p>
        </p:txBody>
      </p:sp>
      <p:sp>
        <p:nvSpPr>
          <p:cNvPr id="44" name="Text 42"/>
          <p:cNvSpPr/>
          <p:nvPr/>
        </p:nvSpPr>
        <p:spPr>
          <a:xfrm>
            <a:off x="7468791" y="4361334"/>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Entertainment and tourism draw</a:t>
            </a:r>
            <a:endParaRPr lang="en-US" sz="850" dirty="0"/>
          </a:p>
        </p:txBody>
      </p:sp>
      <p:pic>
        <p:nvPicPr>
          <p:cNvPr id="45" name="Image 0" descr="preencoded.png"/>
          <p:cNvPicPr>
            <a:picLocks noChangeAspect="1"/>
          </p:cNvPicPr>
          <p:nvPr/>
        </p:nvPicPr>
        <p:blipFill>
          <a:blip r:embed="rId3"/>
          <a:stretch>
            <a:fillRect/>
          </a:stretch>
        </p:blipFill>
        <p:spPr>
          <a:xfrm>
            <a:off x="87611" y="4413237"/>
            <a:ext cx="6904283" cy="3796784"/>
          </a:xfrm>
          <a:prstGeom prst="rect">
            <a:avLst/>
          </a:prstGeom>
        </p:spPr>
      </p:pic>
      <p:pic>
        <p:nvPicPr>
          <p:cNvPr id="46" name="Image 1" descr="preencoded.png"/>
          <p:cNvPicPr>
            <a:picLocks noChangeAspect="1"/>
          </p:cNvPicPr>
          <p:nvPr/>
        </p:nvPicPr>
        <p:blipFill>
          <a:blip r:embed="rId4"/>
          <a:stretch>
            <a:fillRect/>
          </a:stretch>
        </p:blipFill>
        <p:spPr>
          <a:xfrm>
            <a:off x="7160588" y="4438315"/>
            <a:ext cx="6780014" cy="3796784"/>
          </a:xfrm>
          <a:prstGeom prst="rect">
            <a:avLst/>
          </a:prstGeom>
        </p:spPr>
      </p:pic>
      <p:sp>
        <p:nvSpPr>
          <p:cNvPr id="47" name="Text 43"/>
          <p:cNvSpPr/>
          <p:nvPr/>
        </p:nvSpPr>
        <p:spPr>
          <a:xfrm>
            <a:off x="453509" y="676474"/>
            <a:ext cx="13836729" cy="362903"/>
          </a:xfrm>
          <a:prstGeom prst="rect">
            <a:avLst/>
          </a:prstGeom>
          <a:noFill/>
          <a:ln/>
        </p:spPr>
        <p:txBody>
          <a:bodyPr wrap="square" lIns="0" tIns="0" rIns="0" bIns="0" rtlCol="0" anchor="t"/>
          <a:lstStyle/>
          <a:p>
            <a:pPr marL="0" indent="0" algn="l">
              <a:lnSpc>
                <a:spcPts val="1400"/>
              </a:lnSpc>
              <a:buNone/>
            </a:pPr>
            <a:r>
              <a:rPr lang="en-US" sz="1000" dirty="0">
                <a:solidFill>
                  <a:srgbClr val="272525"/>
                </a:solidFill>
                <a:latin typeface="Inter" pitchFamily="34" charset="0"/>
                <a:ea typeface="Inter" pitchFamily="34" charset="-122"/>
                <a:cs typeface="Inter" pitchFamily="34" charset="-120"/>
              </a:rPr>
              <a:t>Taxi demand is highly concentrated in the Upper East Side and Midtown, with JFK Airport as the dominant pickup hub. Upper East Side North and South appear in the top three for both pickups and drop-offs, reflecting dense residential and work activity alongside strong two-way demand</a:t>
            </a:r>
            <a:r>
              <a:rPr lang="en-US" sz="850" dirty="0">
                <a:solidFill>
                  <a:srgbClr val="272525"/>
                </a:solidFill>
                <a:latin typeface="Inter" pitchFamily="34" charset="0"/>
                <a:ea typeface="Inter" pitchFamily="34" charset="-122"/>
                <a:cs typeface="Inter" pitchFamily="34" charset="-120"/>
              </a:rPr>
              <a: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3" name="Text 0"/>
          <p:cNvSpPr/>
          <p:nvPr/>
        </p:nvSpPr>
        <p:spPr>
          <a:xfrm>
            <a:off x="4128492" y="476726"/>
            <a:ext cx="7200543" cy="441484"/>
          </a:xfrm>
          <a:prstGeom prst="rect">
            <a:avLst/>
          </a:prstGeom>
          <a:noFill/>
          <a:ln/>
        </p:spPr>
        <p:txBody>
          <a:bodyPr wrap="none" lIns="0" tIns="0" rIns="0" bIns="0" rtlCol="0" anchor="t"/>
          <a:lstStyle/>
          <a:p>
            <a:pPr marL="0" indent="0" algn="l">
              <a:lnSpc>
                <a:spcPts val="3450"/>
              </a:lnSpc>
              <a:buNone/>
            </a:pPr>
            <a:r>
              <a:rPr lang="en-US" sz="2750" b="1" dirty="0">
                <a:solidFill>
                  <a:srgbClr val="000000"/>
                </a:solidFill>
                <a:latin typeface="Petrona Bold" pitchFamily="34" charset="0"/>
                <a:ea typeface="Petrona Bold" pitchFamily="34" charset="-122"/>
                <a:cs typeface="Petrona Bold" pitchFamily="34" charset="-120"/>
              </a:rPr>
              <a:t>Fare-Per-Mile Anomalies</a:t>
            </a:r>
            <a:endParaRPr lang="en-US" sz="2750" dirty="0"/>
          </a:p>
        </p:txBody>
      </p:sp>
      <p:pic>
        <p:nvPicPr>
          <p:cNvPr id="4" name="Image 1" descr="preencoded.png"/>
          <p:cNvPicPr>
            <a:picLocks noChangeAspect="1"/>
          </p:cNvPicPr>
          <p:nvPr/>
        </p:nvPicPr>
        <p:blipFill>
          <a:blip r:embed="rId4"/>
          <a:stretch>
            <a:fillRect/>
          </a:stretch>
        </p:blipFill>
        <p:spPr>
          <a:xfrm>
            <a:off x="6364724" y="1120021"/>
            <a:ext cx="5558552" cy="2299811"/>
          </a:xfrm>
          <a:prstGeom prst="rect">
            <a:avLst/>
          </a:prstGeom>
        </p:spPr>
      </p:pic>
      <p:sp>
        <p:nvSpPr>
          <p:cNvPr id="5" name="Shape 1"/>
          <p:cNvSpPr/>
          <p:nvPr/>
        </p:nvSpPr>
        <p:spPr>
          <a:xfrm>
            <a:off x="4128492" y="3571161"/>
            <a:ext cx="4948238" cy="1769626"/>
          </a:xfrm>
          <a:prstGeom prst="roundRect">
            <a:avLst>
              <a:gd name="adj" fmla="val 3194"/>
            </a:avLst>
          </a:prstGeom>
          <a:solidFill>
            <a:srgbClr val="CCEEFF"/>
          </a:solidFill>
          <a:ln w="7620">
            <a:solidFill>
              <a:srgbClr val="B2D4E5"/>
            </a:solidFill>
            <a:prstDash val="solid"/>
          </a:ln>
        </p:spPr>
        <p:txBody>
          <a:bodyPr/>
          <a:lstStyle/>
          <a:p>
            <a:endParaRPr lang="en-US"/>
          </a:p>
        </p:txBody>
      </p:sp>
      <p:sp>
        <p:nvSpPr>
          <p:cNvPr id="6" name="Shape 2"/>
          <p:cNvSpPr/>
          <p:nvPr/>
        </p:nvSpPr>
        <p:spPr>
          <a:xfrm>
            <a:off x="4270653" y="3713321"/>
            <a:ext cx="403622" cy="403622"/>
          </a:xfrm>
          <a:prstGeom prst="roundRect">
            <a:avLst>
              <a:gd name="adj" fmla="val 22652595"/>
            </a:avLst>
          </a:prstGeom>
          <a:solidFill>
            <a:srgbClr val="007EBD"/>
          </a:solidFill>
          <a:ln/>
        </p:spPr>
        <p:txBody>
          <a:bodyPr/>
          <a:lstStyle/>
          <a:p>
            <a:endParaRPr lang="en-US"/>
          </a:p>
        </p:txBody>
      </p:sp>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1619" y="3824288"/>
            <a:ext cx="181570" cy="181570"/>
          </a:xfrm>
          <a:prstGeom prst="rect">
            <a:avLst/>
          </a:prstGeom>
        </p:spPr>
      </p:pic>
      <p:sp>
        <p:nvSpPr>
          <p:cNvPr id="8" name="Text 3"/>
          <p:cNvSpPr/>
          <p:nvPr/>
        </p:nvSpPr>
        <p:spPr>
          <a:xfrm>
            <a:off x="4270653" y="4251484"/>
            <a:ext cx="1766054" cy="220623"/>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Petrona Bold" pitchFamily="34" charset="0"/>
                <a:ea typeface="Petrona Bold" pitchFamily="34" charset="-122"/>
                <a:cs typeface="Petrona Bold" pitchFamily="34" charset="-120"/>
              </a:rPr>
              <a:t>Newark Airport</a:t>
            </a:r>
            <a:endParaRPr lang="en-US" sz="1350" dirty="0"/>
          </a:p>
        </p:txBody>
      </p:sp>
      <p:sp>
        <p:nvSpPr>
          <p:cNvPr id="9" name="Text 4"/>
          <p:cNvSpPr/>
          <p:nvPr/>
        </p:nvSpPr>
        <p:spPr>
          <a:xfrm>
            <a:off x="4270653" y="4552831"/>
            <a:ext cx="4663916" cy="645795"/>
          </a:xfrm>
          <a:prstGeom prst="rect">
            <a:avLst/>
          </a:prstGeom>
          <a:noFill/>
          <a:ln/>
        </p:spPr>
        <p:txBody>
          <a:bodyPr wrap="square" lIns="0" tIns="0" rIns="0" bIns="0" rtlCol="0" anchor="t"/>
          <a:lstStyle/>
          <a:p>
            <a:pPr marL="0" indent="0" algn="l">
              <a:lnSpc>
                <a:spcPts val="1650"/>
              </a:lnSpc>
              <a:buNone/>
            </a:pPr>
            <a:r>
              <a:rPr lang="en-US" sz="1050" dirty="0">
                <a:solidFill>
                  <a:srgbClr val="272525"/>
                </a:solidFill>
                <a:latin typeface="Inter" pitchFamily="34" charset="0"/>
                <a:ea typeface="Inter" pitchFamily="34" charset="-122"/>
                <a:cs typeface="Inter" pitchFamily="34" charset="-120"/>
              </a:rPr>
              <a:t>Highest average fare per mile by far. The taxi metre only records distance inside NYC boundaries, whilst fares cover the full journey from New Jersey. This creates artificially inflated ratios.</a:t>
            </a:r>
            <a:endParaRPr lang="en-US" sz="1050" dirty="0"/>
          </a:p>
        </p:txBody>
      </p:sp>
      <p:sp>
        <p:nvSpPr>
          <p:cNvPr id="10" name="Shape 5"/>
          <p:cNvSpPr/>
          <p:nvPr/>
        </p:nvSpPr>
        <p:spPr>
          <a:xfrm>
            <a:off x="9211270" y="3571161"/>
            <a:ext cx="4948238" cy="1769626"/>
          </a:xfrm>
          <a:prstGeom prst="roundRect">
            <a:avLst>
              <a:gd name="adj" fmla="val 3194"/>
            </a:avLst>
          </a:prstGeom>
          <a:solidFill>
            <a:srgbClr val="CCEEFF"/>
          </a:solidFill>
          <a:ln w="7620">
            <a:solidFill>
              <a:srgbClr val="B2D4E5"/>
            </a:solidFill>
            <a:prstDash val="solid"/>
          </a:ln>
        </p:spPr>
        <p:txBody>
          <a:bodyPr/>
          <a:lstStyle/>
          <a:p>
            <a:endParaRPr lang="en-US"/>
          </a:p>
        </p:txBody>
      </p:sp>
      <p:sp>
        <p:nvSpPr>
          <p:cNvPr id="11" name="Shape 6"/>
          <p:cNvSpPr/>
          <p:nvPr/>
        </p:nvSpPr>
        <p:spPr>
          <a:xfrm>
            <a:off x="9353431" y="3713321"/>
            <a:ext cx="403622" cy="403622"/>
          </a:xfrm>
          <a:prstGeom prst="roundRect">
            <a:avLst>
              <a:gd name="adj" fmla="val 22652595"/>
            </a:avLst>
          </a:prstGeom>
          <a:solidFill>
            <a:srgbClr val="007EBD"/>
          </a:solidFill>
          <a:ln/>
        </p:spPr>
        <p:txBody>
          <a:bodyPr/>
          <a:lstStyle/>
          <a:p>
            <a:endParaRPr lang="en-US"/>
          </a:p>
        </p:txBody>
      </p:sp>
      <p:pic>
        <p:nvPicPr>
          <p:cNvPr id="12"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64397" y="3824288"/>
            <a:ext cx="181570" cy="181570"/>
          </a:xfrm>
          <a:prstGeom prst="rect">
            <a:avLst/>
          </a:prstGeom>
        </p:spPr>
      </p:pic>
      <p:sp>
        <p:nvSpPr>
          <p:cNvPr id="13" name="Text 7"/>
          <p:cNvSpPr/>
          <p:nvPr/>
        </p:nvSpPr>
        <p:spPr>
          <a:xfrm>
            <a:off x="9353431" y="4251484"/>
            <a:ext cx="1766054" cy="220623"/>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Petrona Bold" pitchFamily="34" charset="0"/>
                <a:ea typeface="Petrona Bold" pitchFamily="34" charset="-122"/>
                <a:cs typeface="Petrona Bold" pitchFamily="34" charset="-120"/>
              </a:rPr>
              <a:t>Kew Gardens</a:t>
            </a:r>
            <a:endParaRPr lang="en-US" sz="1350" dirty="0"/>
          </a:p>
        </p:txBody>
      </p:sp>
      <p:sp>
        <p:nvSpPr>
          <p:cNvPr id="14" name="Text 8"/>
          <p:cNvSpPr/>
          <p:nvPr/>
        </p:nvSpPr>
        <p:spPr>
          <a:xfrm>
            <a:off x="9353431" y="4552830"/>
            <a:ext cx="4663916" cy="599599"/>
          </a:xfrm>
          <a:prstGeom prst="rect">
            <a:avLst/>
          </a:prstGeom>
          <a:noFill/>
          <a:ln/>
        </p:spPr>
        <p:txBody>
          <a:bodyPr wrap="square" lIns="0" tIns="0" rIns="0" bIns="0" rtlCol="0" anchor="t"/>
          <a:lstStyle/>
          <a:p>
            <a:r>
              <a:rPr lang="en-GB" sz="1050" dirty="0">
                <a:solidFill>
                  <a:srgbClr val="272525"/>
                </a:solidFill>
                <a:latin typeface="Inter" pitchFamily="34" charset="0"/>
                <a:ea typeface="Inter" pitchFamily="34" charset="-122"/>
              </a:rPr>
              <a:t>This zone is adjacent to JFK Airport. Even short trips from here </a:t>
            </a:r>
          </a:p>
          <a:p>
            <a:r>
              <a:rPr lang="en-GB" sz="1050" dirty="0">
                <a:solidFill>
                  <a:srgbClr val="272525"/>
                </a:solidFill>
                <a:latin typeface="Inter" pitchFamily="34" charset="0"/>
                <a:ea typeface="Inter" pitchFamily="34" charset="-122"/>
              </a:rPr>
              <a:t>incur airport surcharges, minimum fares, and congestion fees, significantly raising the fare relative to the recorded distance.</a:t>
            </a:r>
          </a:p>
        </p:txBody>
      </p:sp>
      <p:sp>
        <p:nvSpPr>
          <p:cNvPr id="15" name="Shape 9"/>
          <p:cNvSpPr/>
          <p:nvPr/>
        </p:nvSpPr>
        <p:spPr>
          <a:xfrm>
            <a:off x="4128492" y="5475327"/>
            <a:ext cx="10031016" cy="1470184"/>
          </a:xfrm>
          <a:prstGeom prst="roundRect">
            <a:avLst>
              <a:gd name="adj" fmla="val 4220"/>
            </a:avLst>
          </a:prstGeom>
          <a:solidFill>
            <a:srgbClr val="CCEEFF"/>
          </a:solidFill>
          <a:ln w="7620">
            <a:solidFill>
              <a:srgbClr val="B2D4E5"/>
            </a:solidFill>
            <a:prstDash val="solid"/>
          </a:ln>
        </p:spPr>
        <p:txBody>
          <a:bodyPr/>
          <a:lstStyle/>
          <a:p>
            <a:endParaRPr lang="en-US"/>
          </a:p>
        </p:txBody>
      </p:sp>
      <p:sp>
        <p:nvSpPr>
          <p:cNvPr id="16" name="Shape 10"/>
          <p:cNvSpPr/>
          <p:nvPr/>
        </p:nvSpPr>
        <p:spPr>
          <a:xfrm>
            <a:off x="4270653" y="5617488"/>
            <a:ext cx="403622" cy="403622"/>
          </a:xfrm>
          <a:prstGeom prst="roundRect">
            <a:avLst>
              <a:gd name="adj" fmla="val 22652595"/>
            </a:avLst>
          </a:prstGeom>
          <a:solidFill>
            <a:srgbClr val="007EBD"/>
          </a:solidFill>
          <a:ln/>
        </p:spPr>
        <p:txBody>
          <a:bodyPr/>
          <a:lstStyle/>
          <a:p>
            <a:endParaRPr lang="en-US"/>
          </a:p>
        </p:txBody>
      </p:sp>
      <p:pic>
        <p:nvPicPr>
          <p:cNvPr id="17"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81619" y="5728454"/>
            <a:ext cx="181570" cy="181570"/>
          </a:xfrm>
          <a:prstGeom prst="rect">
            <a:avLst/>
          </a:prstGeom>
        </p:spPr>
      </p:pic>
      <p:sp>
        <p:nvSpPr>
          <p:cNvPr id="18" name="Text 11"/>
          <p:cNvSpPr/>
          <p:nvPr/>
        </p:nvSpPr>
        <p:spPr>
          <a:xfrm>
            <a:off x="4270653" y="6155650"/>
            <a:ext cx="1766054" cy="220623"/>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Petrona Bold" pitchFamily="34" charset="0"/>
                <a:ea typeface="Petrona Bold" pitchFamily="34" charset="-122"/>
                <a:cs typeface="Petrona Bold" pitchFamily="34" charset="-120"/>
              </a:rPr>
              <a:t>South Ozone Park</a:t>
            </a:r>
            <a:endParaRPr lang="en-US" sz="1350" dirty="0"/>
          </a:p>
        </p:txBody>
      </p:sp>
      <p:sp>
        <p:nvSpPr>
          <p:cNvPr id="19" name="Text 12"/>
          <p:cNvSpPr/>
          <p:nvPr/>
        </p:nvSpPr>
        <p:spPr>
          <a:xfrm>
            <a:off x="4270653" y="6456998"/>
            <a:ext cx="9746694" cy="215265"/>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Inter" pitchFamily="34" charset="0"/>
                <a:ea typeface="Inter" pitchFamily="34" charset="-122"/>
                <a:cs typeface="Inter" pitchFamily="34" charset="-120"/>
              </a:rPr>
              <a:t>Similar to Kew Gardens, its proximity to JFK Airport means trips often include airport surcharges, minimum fares and congestion fees, which inflates</a:t>
            </a:r>
          </a:p>
          <a:p>
            <a:pPr marL="0" indent="0" algn="l">
              <a:lnSpc>
                <a:spcPts val="1650"/>
              </a:lnSpc>
              <a:buNone/>
            </a:pPr>
            <a:r>
              <a:rPr lang="en-US" sz="1050" dirty="0">
                <a:solidFill>
                  <a:srgbClr val="272525"/>
                </a:solidFill>
                <a:latin typeface="Inter" pitchFamily="34" charset="0"/>
                <a:ea typeface="Inter" pitchFamily="34" charset="-122"/>
                <a:cs typeface="Inter" pitchFamily="34" charset="-120"/>
              </a:rPr>
              <a:t>the per-mile calculation for short distances.</a:t>
            </a:r>
            <a:endParaRPr lang="en-US" sz="1050" dirty="0"/>
          </a:p>
        </p:txBody>
      </p:sp>
      <p:sp>
        <p:nvSpPr>
          <p:cNvPr id="20" name="Shape 13"/>
          <p:cNvSpPr/>
          <p:nvPr/>
        </p:nvSpPr>
        <p:spPr>
          <a:xfrm>
            <a:off x="4128492" y="7087672"/>
            <a:ext cx="10031016" cy="787003"/>
          </a:xfrm>
          <a:prstGeom prst="roundRect">
            <a:avLst>
              <a:gd name="adj" fmla="val 7181"/>
            </a:avLst>
          </a:prstGeom>
          <a:solidFill>
            <a:srgbClr val="B3E5FF"/>
          </a:solidFill>
          <a:ln/>
        </p:spPr>
        <p:txBody>
          <a:bodyPr/>
          <a:lstStyle/>
          <a:p>
            <a:endParaRPr lang="en-US"/>
          </a:p>
        </p:txBody>
      </p:sp>
      <p:pic>
        <p:nvPicPr>
          <p:cNvPr id="21" name="Image 5" descr="preencoded.png"/>
          <p:cNvPicPr>
            <a:picLocks noChangeAspect="1"/>
          </p:cNvPicPr>
          <p:nvPr/>
        </p:nvPicPr>
        <p:blipFill>
          <a:blip r:embed="rId11"/>
          <a:stretch>
            <a:fillRect/>
          </a:stretch>
        </p:blipFill>
        <p:spPr>
          <a:xfrm>
            <a:off x="4263033" y="7168515"/>
            <a:ext cx="168116" cy="134541"/>
          </a:xfrm>
          <a:prstGeom prst="rect">
            <a:avLst/>
          </a:prstGeom>
        </p:spPr>
      </p:pic>
      <p:sp>
        <p:nvSpPr>
          <p:cNvPr id="22" name="Text 14"/>
          <p:cNvSpPr/>
          <p:nvPr/>
        </p:nvSpPr>
        <p:spPr>
          <a:xfrm>
            <a:off x="4565690" y="7133868"/>
            <a:ext cx="9459278" cy="430530"/>
          </a:xfrm>
          <a:prstGeom prst="rect">
            <a:avLst/>
          </a:prstGeom>
          <a:noFill/>
          <a:ln/>
        </p:spPr>
        <p:txBody>
          <a:bodyPr wrap="square" lIns="0" tIns="0" rIns="0" bIns="0" rtlCol="0" anchor="t"/>
          <a:lstStyle/>
          <a:p>
            <a:pPr marL="0" indent="0" algn="l">
              <a:lnSpc>
                <a:spcPts val="1650"/>
              </a:lnSpc>
              <a:buNone/>
            </a:pPr>
            <a:r>
              <a:rPr lang="en-US" sz="1050" b="1" dirty="0">
                <a:solidFill>
                  <a:srgbClr val="000000"/>
                </a:solidFill>
                <a:latin typeface="Inter" pitchFamily="34" charset="0"/>
                <a:ea typeface="Inter" pitchFamily="34" charset="-122"/>
                <a:cs typeface="Inter" pitchFamily="34" charset="-120"/>
              </a:rPr>
              <a:t>Key Insight:</a:t>
            </a:r>
            <a:r>
              <a:rPr lang="en-US" sz="1050" dirty="0">
                <a:solidFill>
                  <a:srgbClr val="000000"/>
                </a:solidFill>
                <a:latin typeface="Inter" pitchFamily="34" charset="0"/>
                <a:ea typeface="Inter" pitchFamily="34" charset="-122"/>
                <a:cs typeface="Inter" pitchFamily="34" charset="-120"/>
              </a:rPr>
              <a:t> Understanding these data anomalies is essential for accurate pricing analysis and operational planning. The Newark Airport effect demonstrates how geographic boundaries can distort distance-based metrics.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89334" y="211283"/>
            <a:ext cx="4896922"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Staten Island Trip Revenue Analysis</a:t>
            </a:r>
            <a:endParaRPr lang="en-US" sz="2300" dirty="0"/>
          </a:p>
        </p:txBody>
      </p:sp>
      <p:pic>
        <p:nvPicPr>
          <p:cNvPr id="3" name="Image 0" descr="preencoded.png"/>
          <p:cNvPicPr>
            <a:picLocks noChangeAspect="1"/>
          </p:cNvPicPr>
          <p:nvPr/>
        </p:nvPicPr>
        <p:blipFill>
          <a:blip r:embed="rId3"/>
          <a:stretch>
            <a:fillRect/>
          </a:stretch>
        </p:blipFill>
        <p:spPr>
          <a:xfrm>
            <a:off x="381713" y="612529"/>
            <a:ext cx="5475094" cy="2368136"/>
          </a:xfrm>
          <a:prstGeom prst="rect">
            <a:avLst/>
          </a:prstGeom>
        </p:spPr>
      </p:pic>
      <p:sp>
        <p:nvSpPr>
          <p:cNvPr id="4" name="Text 1"/>
          <p:cNvSpPr/>
          <p:nvPr/>
        </p:nvSpPr>
        <p:spPr>
          <a:xfrm>
            <a:off x="1306230" y="3040654"/>
            <a:ext cx="4561287" cy="620425"/>
          </a:xfrm>
          <a:prstGeom prst="rect">
            <a:avLst/>
          </a:prstGeom>
          <a:noFill/>
          <a:ln/>
        </p:spPr>
        <p:txBody>
          <a:bodyPr wrap="square" lIns="0" tIns="0" rIns="0" bIns="0" rtlCol="0" anchor="t"/>
          <a:lstStyle/>
          <a:p>
            <a:pPr marL="0" indent="0" algn="l">
              <a:lnSpc>
                <a:spcPts val="2300"/>
              </a:lnSpc>
              <a:buNone/>
            </a:pPr>
            <a:r>
              <a:rPr lang="en-US" sz="1850" b="1" dirty="0">
                <a:solidFill>
                  <a:srgbClr val="000000"/>
                </a:solidFill>
                <a:latin typeface="Petrona Bold" pitchFamily="34" charset="0"/>
                <a:ea typeface="Petrona Bold" pitchFamily="34" charset="-122"/>
                <a:cs typeface="Petrona Bold" pitchFamily="34" charset="-120"/>
              </a:rPr>
              <a:t>Revenue by Drop-off Borough for Staten Island Pickups (2022)</a:t>
            </a:r>
            <a:endParaRPr lang="en-US" sz="1850" dirty="0"/>
          </a:p>
        </p:txBody>
      </p:sp>
      <p:pic>
        <p:nvPicPr>
          <p:cNvPr id="5" name="Image 1" descr="preencoded.png"/>
          <p:cNvPicPr>
            <a:picLocks noChangeAspect="1"/>
          </p:cNvPicPr>
          <p:nvPr/>
        </p:nvPicPr>
        <p:blipFill>
          <a:blip r:embed="rId4"/>
          <a:stretch>
            <a:fillRect/>
          </a:stretch>
        </p:blipFill>
        <p:spPr>
          <a:xfrm>
            <a:off x="381713" y="3230701"/>
            <a:ext cx="5368647" cy="4831675"/>
          </a:xfrm>
          <a:prstGeom prst="rect">
            <a:avLst/>
          </a:prstGeom>
        </p:spPr>
      </p:pic>
      <p:sp>
        <p:nvSpPr>
          <p:cNvPr id="6" name="Text 2"/>
          <p:cNvSpPr/>
          <p:nvPr/>
        </p:nvSpPr>
        <p:spPr>
          <a:xfrm>
            <a:off x="6049804" y="967264"/>
            <a:ext cx="1919168" cy="223242"/>
          </a:xfrm>
          <a:prstGeom prst="rect">
            <a:avLst/>
          </a:prstGeom>
          <a:noFill/>
          <a:ln/>
        </p:spPr>
        <p:txBody>
          <a:bodyPr wrap="none" lIns="0" tIns="0" rIns="0" bIns="0" rtlCol="0" anchor="t"/>
          <a:lstStyle/>
          <a:p>
            <a:pPr marL="0" indent="0" algn="l">
              <a:lnSpc>
                <a:spcPts val="1750"/>
              </a:lnSpc>
              <a:buNone/>
            </a:pPr>
            <a:r>
              <a:rPr lang="en-US" sz="1600" b="1" dirty="0">
                <a:solidFill>
                  <a:srgbClr val="000000"/>
                </a:solidFill>
                <a:latin typeface="Petrona Bold" pitchFamily="34" charset="0"/>
                <a:ea typeface="Petrona Bold" pitchFamily="34" charset="-122"/>
                <a:cs typeface="Petrona Bold" pitchFamily="34" charset="-120"/>
              </a:rPr>
              <a:t>Borough-Level Patterns</a:t>
            </a:r>
            <a:endParaRPr lang="en-US" sz="1600" dirty="0"/>
          </a:p>
        </p:txBody>
      </p:sp>
      <p:sp>
        <p:nvSpPr>
          <p:cNvPr id="7" name="Text 3"/>
          <p:cNvSpPr/>
          <p:nvPr/>
        </p:nvSpPr>
        <p:spPr>
          <a:xfrm>
            <a:off x="6049804" y="1280211"/>
            <a:ext cx="8191262" cy="544354"/>
          </a:xfrm>
          <a:prstGeom prst="rect">
            <a:avLst/>
          </a:prstGeom>
          <a:noFill/>
          <a:ln/>
        </p:spPr>
        <p:txBody>
          <a:bodyPr wrap="square" lIns="0" tIns="0" rIns="0" bIns="0" rtlCol="0" anchor="t"/>
          <a:lstStyle/>
          <a:p>
            <a:pPr marL="0" indent="0" algn="l">
              <a:lnSpc>
                <a:spcPts val="1400"/>
              </a:lnSpc>
              <a:buNone/>
            </a:pPr>
            <a:r>
              <a:rPr lang="en-US" sz="1400" dirty="0">
                <a:solidFill>
                  <a:srgbClr val="272525"/>
                </a:solidFill>
                <a:latin typeface="Inter" pitchFamily="34" charset="0"/>
                <a:ea typeface="Inter" pitchFamily="34" charset="-122"/>
                <a:cs typeface="Inter" pitchFamily="34" charset="-120"/>
              </a:rPr>
              <a:t>Manhattan is by far the most valuable destination for trips starting in Staten Island — bringing in $64,179 in revenue, significantly more than Brooklyn ($39,128) or Staten Island itself ($38,786). This means commuters and workers travelling into Manhattan generate the strongest earning potential for drivers.</a:t>
            </a:r>
          </a:p>
          <a:p>
            <a:pPr marL="0" indent="0" algn="l">
              <a:lnSpc>
                <a:spcPts val="1400"/>
              </a:lnSpc>
              <a:buNone/>
            </a:pPr>
            <a:endParaRPr lang="en-US" sz="1400" dirty="0"/>
          </a:p>
        </p:txBody>
      </p:sp>
      <p:sp>
        <p:nvSpPr>
          <p:cNvPr id="8" name="Text 4"/>
          <p:cNvSpPr/>
          <p:nvPr/>
        </p:nvSpPr>
        <p:spPr>
          <a:xfrm>
            <a:off x="6091122" y="2092881"/>
            <a:ext cx="2781300" cy="223242"/>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Top 10 Drop-off Zones by Revenue</a:t>
            </a:r>
            <a:endParaRPr lang="en-US" sz="1400" dirty="0"/>
          </a:p>
        </p:txBody>
      </p:sp>
      <p:sp>
        <p:nvSpPr>
          <p:cNvPr id="9" name="Shape 5"/>
          <p:cNvSpPr/>
          <p:nvPr/>
        </p:nvSpPr>
        <p:spPr>
          <a:xfrm>
            <a:off x="6027062" y="2576989"/>
            <a:ext cx="8191262" cy="3674507"/>
          </a:xfrm>
          <a:prstGeom prst="roundRect">
            <a:avLst>
              <a:gd name="adj" fmla="val 1296"/>
            </a:avLst>
          </a:prstGeom>
          <a:noFill/>
          <a:ln w="7620">
            <a:solidFill>
              <a:srgbClr val="000000">
                <a:alpha val="8000"/>
              </a:srgbClr>
            </a:solidFill>
            <a:prstDash val="solid"/>
          </a:ln>
        </p:spPr>
        <p:txBody>
          <a:bodyPr/>
          <a:lstStyle/>
          <a:p>
            <a:endParaRPr lang="en-US"/>
          </a:p>
        </p:txBody>
      </p:sp>
      <p:sp>
        <p:nvSpPr>
          <p:cNvPr id="10" name="Shape 6"/>
          <p:cNvSpPr/>
          <p:nvPr/>
        </p:nvSpPr>
        <p:spPr>
          <a:xfrm>
            <a:off x="6042302" y="2614790"/>
            <a:ext cx="8176022" cy="332661"/>
          </a:xfrm>
          <a:prstGeom prst="rect">
            <a:avLst/>
          </a:prstGeom>
          <a:solidFill>
            <a:srgbClr val="FFFFFF">
              <a:alpha val="4000"/>
            </a:srgbClr>
          </a:solidFill>
          <a:ln/>
        </p:spPr>
        <p:txBody>
          <a:bodyPr/>
          <a:lstStyle/>
          <a:p>
            <a:endParaRPr lang="en-US"/>
          </a:p>
        </p:txBody>
      </p:sp>
      <p:sp>
        <p:nvSpPr>
          <p:cNvPr id="11" name="Text 7"/>
          <p:cNvSpPr/>
          <p:nvPr/>
        </p:nvSpPr>
        <p:spPr>
          <a:xfrm>
            <a:off x="6170771" y="2395538"/>
            <a:ext cx="3039904" cy="181451"/>
          </a:xfrm>
          <a:prstGeom prst="rect">
            <a:avLst/>
          </a:prstGeom>
          <a:noFill/>
          <a:ln/>
        </p:spPr>
        <p:txBody>
          <a:bodyPr wrap="none" lIns="0" tIns="0" rIns="0" bIns="0" rtlCol="0" anchor="t"/>
          <a:lstStyle/>
          <a:p>
            <a:pPr marL="0" indent="0" algn="l">
              <a:lnSpc>
                <a:spcPts val="1400"/>
              </a:lnSpc>
              <a:buNone/>
            </a:pPr>
            <a:r>
              <a:rPr lang="en-US" sz="850" b="1" dirty="0">
                <a:solidFill>
                  <a:srgbClr val="272525"/>
                </a:solidFill>
                <a:latin typeface="Inter" pitchFamily="34" charset="0"/>
                <a:ea typeface="Inter" pitchFamily="34" charset="-122"/>
                <a:cs typeface="Inter" pitchFamily="34" charset="-120"/>
              </a:rPr>
              <a:t>Drop-off Zone</a:t>
            </a:r>
            <a:endParaRPr lang="en-US" sz="850" dirty="0"/>
          </a:p>
        </p:txBody>
      </p:sp>
      <p:sp>
        <p:nvSpPr>
          <p:cNvPr id="12" name="Text 8"/>
          <p:cNvSpPr/>
          <p:nvPr/>
        </p:nvSpPr>
        <p:spPr>
          <a:xfrm>
            <a:off x="9444990" y="2395538"/>
            <a:ext cx="2218492" cy="181451"/>
          </a:xfrm>
          <a:prstGeom prst="rect">
            <a:avLst/>
          </a:prstGeom>
          <a:noFill/>
          <a:ln/>
        </p:spPr>
        <p:txBody>
          <a:bodyPr wrap="none" lIns="0" tIns="0" rIns="0" bIns="0" rtlCol="0" anchor="t"/>
          <a:lstStyle/>
          <a:p>
            <a:pPr marL="0" indent="0" algn="l">
              <a:lnSpc>
                <a:spcPts val="1400"/>
              </a:lnSpc>
              <a:buNone/>
            </a:pPr>
            <a:r>
              <a:rPr lang="en-US" sz="850" b="1" dirty="0">
                <a:solidFill>
                  <a:srgbClr val="272525"/>
                </a:solidFill>
                <a:latin typeface="Inter" pitchFamily="34" charset="0"/>
                <a:ea typeface="Inter" pitchFamily="34" charset="-122"/>
                <a:cs typeface="Inter" pitchFamily="34" charset="-120"/>
              </a:rPr>
              <a:t>Borough</a:t>
            </a:r>
            <a:endParaRPr lang="en-US" sz="850" dirty="0"/>
          </a:p>
        </p:txBody>
      </p:sp>
      <p:sp>
        <p:nvSpPr>
          <p:cNvPr id="13" name="Text 9"/>
          <p:cNvSpPr/>
          <p:nvPr/>
        </p:nvSpPr>
        <p:spPr>
          <a:xfrm>
            <a:off x="11897797" y="2395538"/>
            <a:ext cx="2222302" cy="181451"/>
          </a:xfrm>
          <a:prstGeom prst="rect">
            <a:avLst/>
          </a:prstGeom>
          <a:noFill/>
          <a:ln/>
        </p:spPr>
        <p:txBody>
          <a:bodyPr wrap="none" lIns="0" tIns="0" rIns="0" bIns="0" rtlCol="0" anchor="t"/>
          <a:lstStyle/>
          <a:p>
            <a:pPr marL="0" indent="0" algn="l">
              <a:lnSpc>
                <a:spcPts val="1400"/>
              </a:lnSpc>
              <a:buNone/>
            </a:pPr>
            <a:r>
              <a:rPr lang="en-US" sz="850" b="1" dirty="0">
                <a:solidFill>
                  <a:srgbClr val="272525"/>
                </a:solidFill>
                <a:latin typeface="Inter" pitchFamily="34" charset="0"/>
                <a:ea typeface="Inter" pitchFamily="34" charset="-122"/>
                <a:cs typeface="Inter" pitchFamily="34" charset="-120"/>
              </a:rPr>
              <a:t>Revenue</a:t>
            </a:r>
            <a:endParaRPr lang="en-US" sz="850" dirty="0"/>
          </a:p>
        </p:txBody>
      </p:sp>
      <p:sp>
        <p:nvSpPr>
          <p:cNvPr id="14" name="Shape 10"/>
          <p:cNvSpPr/>
          <p:nvPr/>
        </p:nvSpPr>
        <p:spPr>
          <a:xfrm>
            <a:off x="6057424" y="2652593"/>
            <a:ext cx="8176022" cy="332661"/>
          </a:xfrm>
          <a:prstGeom prst="rect">
            <a:avLst/>
          </a:prstGeom>
          <a:solidFill>
            <a:srgbClr val="000000">
              <a:alpha val="4000"/>
            </a:srgbClr>
          </a:solidFill>
          <a:ln/>
        </p:spPr>
        <p:txBody>
          <a:bodyPr/>
          <a:lstStyle/>
          <a:p>
            <a:endParaRPr lang="en-US"/>
          </a:p>
        </p:txBody>
      </p:sp>
      <p:sp>
        <p:nvSpPr>
          <p:cNvPr id="15" name="Text 11"/>
          <p:cNvSpPr/>
          <p:nvPr/>
        </p:nvSpPr>
        <p:spPr>
          <a:xfrm>
            <a:off x="6170771" y="2728198"/>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Sheepshead Bay</a:t>
            </a:r>
            <a:endParaRPr lang="en-US" sz="850" dirty="0"/>
          </a:p>
        </p:txBody>
      </p:sp>
      <p:sp>
        <p:nvSpPr>
          <p:cNvPr id="16" name="Text 12"/>
          <p:cNvSpPr/>
          <p:nvPr/>
        </p:nvSpPr>
        <p:spPr>
          <a:xfrm>
            <a:off x="9444990" y="2728198"/>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Brooklyn</a:t>
            </a:r>
            <a:endParaRPr lang="en-US" sz="850" dirty="0"/>
          </a:p>
        </p:txBody>
      </p:sp>
      <p:sp>
        <p:nvSpPr>
          <p:cNvPr id="17" name="Text 13"/>
          <p:cNvSpPr/>
          <p:nvPr/>
        </p:nvSpPr>
        <p:spPr>
          <a:xfrm>
            <a:off x="11897797" y="2728198"/>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$13,842</a:t>
            </a:r>
            <a:endParaRPr lang="en-US" sz="850" dirty="0"/>
          </a:p>
        </p:txBody>
      </p:sp>
      <p:sp>
        <p:nvSpPr>
          <p:cNvPr id="18" name="Shape 14"/>
          <p:cNvSpPr/>
          <p:nvPr/>
        </p:nvSpPr>
        <p:spPr>
          <a:xfrm>
            <a:off x="6057424" y="2985254"/>
            <a:ext cx="8176022" cy="332661"/>
          </a:xfrm>
          <a:prstGeom prst="rect">
            <a:avLst/>
          </a:prstGeom>
          <a:solidFill>
            <a:srgbClr val="FFFFFF">
              <a:alpha val="4000"/>
            </a:srgbClr>
          </a:solidFill>
          <a:ln/>
        </p:spPr>
        <p:txBody>
          <a:bodyPr/>
          <a:lstStyle/>
          <a:p>
            <a:endParaRPr lang="en-US"/>
          </a:p>
        </p:txBody>
      </p:sp>
      <p:sp>
        <p:nvSpPr>
          <p:cNvPr id="19" name="Text 15"/>
          <p:cNvSpPr/>
          <p:nvPr/>
        </p:nvSpPr>
        <p:spPr>
          <a:xfrm>
            <a:off x="6170771" y="3060859"/>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Arden Heights</a:t>
            </a:r>
            <a:endParaRPr lang="en-US" sz="850" dirty="0"/>
          </a:p>
        </p:txBody>
      </p:sp>
      <p:sp>
        <p:nvSpPr>
          <p:cNvPr id="20" name="Text 16"/>
          <p:cNvSpPr/>
          <p:nvPr/>
        </p:nvSpPr>
        <p:spPr>
          <a:xfrm>
            <a:off x="9444990" y="3060859"/>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Staten Island</a:t>
            </a:r>
            <a:endParaRPr lang="en-US" sz="850" dirty="0"/>
          </a:p>
        </p:txBody>
      </p:sp>
      <p:sp>
        <p:nvSpPr>
          <p:cNvPr id="21" name="Text 17"/>
          <p:cNvSpPr/>
          <p:nvPr/>
        </p:nvSpPr>
        <p:spPr>
          <a:xfrm>
            <a:off x="11897797" y="3060859"/>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$13,713</a:t>
            </a:r>
            <a:endParaRPr lang="en-US" sz="850" dirty="0"/>
          </a:p>
        </p:txBody>
      </p:sp>
      <p:sp>
        <p:nvSpPr>
          <p:cNvPr id="22" name="Shape 18"/>
          <p:cNvSpPr/>
          <p:nvPr/>
        </p:nvSpPr>
        <p:spPr>
          <a:xfrm>
            <a:off x="6057424" y="3317915"/>
            <a:ext cx="8176022" cy="332661"/>
          </a:xfrm>
          <a:prstGeom prst="rect">
            <a:avLst/>
          </a:prstGeom>
          <a:solidFill>
            <a:srgbClr val="000000">
              <a:alpha val="4000"/>
            </a:srgbClr>
          </a:solidFill>
          <a:ln/>
        </p:spPr>
        <p:txBody>
          <a:bodyPr/>
          <a:lstStyle/>
          <a:p>
            <a:endParaRPr lang="en-US"/>
          </a:p>
        </p:txBody>
      </p:sp>
      <p:sp>
        <p:nvSpPr>
          <p:cNvPr id="23" name="Text 19"/>
          <p:cNvSpPr/>
          <p:nvPr/>
        </p:nvSpPr>
        <p:spPr>
          <a:xfrm>
            <a:off x="6170771" y="3393519"/>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East Harlem South</a:t>
            </a:r>
            <a:endParaRPr lang="en-US" sz="850" dirty="0"/>
          </a:p>
        </p:txBody>
      </p:sp>
      <p:sp>
        <p:nvSpPr>
          <p:cNvPr id="24" name="Text 20"/>
          <p:cNvSpPr/>
          <p:nvPr/>
        </p:nvSpPr>
        <p:spPr>
          <a:xfrm>
            <a:off x="9444990" y="3393519"/>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Manhattan</a:t>
            </a:r>
            <a:endParaRPr lang="en-US" sz="850" dirty="0"/>
          </a:p>
        </p:txBody>
      </p:sp>
      <p:sp>
        <p:nvSpPr>
          <p:cNvPr id="25" name="Text 21"/>
          <p:cNvSpPr/>
          <p:nvPr/>
        </p:nvSpPr>
        <p:spPr>
          <a:xfrm>
            <a:off x="11897797" y="3393519"/>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$13,199</a:t>
            </a:r>
            <a:endParaRPr lang="en-US" sz="850" dirty="0"/>
          </a:p>
        </p:txBody>
      </p:sp>
      <p:sp>
        <p:nvSpPr>
          <p:cNvPr id="26" name="Shape 22"/>
          <p:cNvSpPr/>
          <p:nvPr/>
        </p:nvSpPr>
        <p:spPr>
          <a:xfrm>
            <a:off x="6057424" y="3650575"/>
            <a:ext cx="8176022" cy="332661"/>
          </a:xfrm>
          <a:prstGeom prst="rect">
            <a:avLst/>
          </a:prstGeom>
          <a:solidFill>
            <a:srgbClr val="FFFFFF">
              <a:alpha val="4000"/>
            </a:srgbClr>
          </a:solidFill>
          <a:ln/>
        </p:spPr>
        <p:txBody>
          <a:bodyPr/>
          <a:lstStyle/>
          <a:p>
            <a:endParaRPr lang="en-US"/>
          </a:p>
        </p:txBody>
      </p:sp>
      <p:sp>
        <p:nvSpPr>
          <p:cNvPr id="27" name="Text 23"/>
          <p:cNvSpPr/>
          <p:nvPr/>
        </p:nvSpPr>
        <p:spPr>
          <a:xfrm>
            <a:off x="6170771" y="3726180"/>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Kew Gardens Hills</a:t>
            </a:r>
            <a:endParaRPr lang="en-US" sz="850" dirty="0"/>
          </a:p>
        </p:txBody>
      </p:sp>
      <p:sp>
        <p:nvSpPr>
          <p:cNvPr id="28" name="Text 24"/>
          <p:cNvSpPr/>
          <p:nvPr/>
        </p:nvSpPr>
        <p:spPr>
          <a:xfrm>
            <a:off x="9444990" y="3726180"/>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Queens</a:t>
            </a:r>
            <a:endParaRPr lang="en-US" sz="850" dirty="0"/>
          </a:p>
        </p:txBody>
      </p:sp>
      <p:sp>
        <p:nvSpPr>
          <p:cNvPr id="29" name="Text 25"/>
          <p:cNvSpPr/>
          <p:nvPr/>
        </p:nvSpPr>
        <p:spPr>
          <a:xfrm>
            <a:off x="11897797" y="3726180"/>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$7,051</a:t>
            </a:r>
            <a:endParaRPr lang="en-US" sz="850" dirty="0"/>
          </a:p>
        </p:txBody>
      </p:sp>
      <p:sp>
        <p:nvSpPr>
          <p:cNvPr id="30" name="Shape 26"/>
          <p:cNvSpPr/>
          <p:nvPr/>
        </p:nvSpPr>
        <p:spPr>
          <a:xfrm>
            <a:off x="6057424" y="3983236"/>
            <a:ext cx="8176022" cy="332661"/>
          </a:xfrm>
          <a:prstGeom prst="rect">
            <a:avLst/>
          </a:prstGeom>
          <a:solidFill>
            <a:srgbClr val="000000">
              <a:alpha val="4000"/>
            </a:srgbClr>
          </a:solidFill>
          <a:ln/>
        </p:spPr>
        <p:txBody>
          <a:bodyPr/>
          <a:lstStyle/>
          <a:p>
            <a:endParaRPr lang="en-US"/>
          </a:p>
        </p:txBody>
      </p:sp>
      <p:sp>
        <p:nvSpPr>
          <p:cNvPr id="31" name="Text 27"/>
          <p:cNvSpPr/>
          <p:nvPr/>
        </p:nvSpPr>
        <p:spPr>
          <a:xfrm>
            <a:off x="6170771" y="4058841"/>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Flatiron</a:t>
            </a:r>
            <a:endParaRPr lang="en-US" sz="850" dirty="0"/>
          </a:p>
        </p:txBody>
      </p:sp>
      <p:sp>
        <p:nvSpPr>
          <p:cNvPr id="32" name="Text 28"/>
          <p:cNvSpPr/>
          <p:nvPr/>
        </p:nvSpPr>
        <p:spPr>
          <a:xfrm>
            <a:off x="9444990" y="4058841"/>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Manhattan</a:t>
            </a:r>
            <a:endParaRPr lang="en-US" sz="850" dirty="0"/>
          </a:p>
        </p:txBody>
      </p:sp>
      <p:sp>
        <p:nvSpPr>
          <p:cNvPr id="33" name="Text 29"/>
          <p:cNvSpPr/>
          <p:nvPr/>
        </p:nvSpPr>
        <p:spPr>
          <a:xfrm>
            <a:off x="11897797" y="4058841"/>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$6,797</a:t>
            </a:r>
            <a:endParaRPr lang="en-US" sz="850" dirty="0"/>
          </a:p>
        </p:txBody>
      </p:sp>
      <p:sp>
        <p:nvSpPr>
          <p:cNvPr id="34" name="Shape 30"/>
          <p:cNvSpPr/>
          <p:nvPr/>
        </p:nvSpPr>
        <p:spPr>
          <a:xfrm>
            <a:off x="6057424" y="4315897"/>
            <a:ext cx="8176022" cy="332661"/>
          </a:xfrm>
          <a:prstGeom prst="rect">
            <a:avLst/>
          </a:prstGeom>
          <a:solidFill>
            <a:srgbClr val="FFFFFF">
              <a:alpha val="4000"/>
            </a:srgbClr>
          </a:solidFill>
          <a:ln/>
        </p:spPr>
        <p:txBody>
          <a:bodyPr/>
          <a:lstStyle/>
          <a:p>
            <a:endParaRPr lang="en-US"/>
          </a:p>
        </p:txBody>
      </p:sp>
      <p:sp>
        <p:nvSpPr>
          <p:cNvPr id="35" name="Text 31"/>
          <p:cNvSpPr/>
          <p:nvPr/>
        </p:nvSpPr>
        <p:spPr>
          <a:xfrm>
            <a:off x="6170771" y="4391501"/>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TriBeCa/Civic Centre</a:t>
            </a:r>
            <a:endParaRPr lang="en-US" sz="850" dirty="0"/>
          </a:p>
        </p:txBody>
      </p:sp>
      <p:sp>
        <p:nvSpPr>
          <p:cNvPr id="36" name="Text 32"/>
          <p:cNvSpPr/>
          <p:nvPr/>
        </p:nvSpPr>
        <p:spPr>
          <a:xfrm>
            <a:off x="9444990" y="4391501"/>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Manhattan</a:t>
            </a:r>
            <a:endParaRPr lang="en-US" sz="850" dirty="0"/>
          </a:p>
        </p:txBody>
      </p:sp>
      <p:sp>
        <p:nvSpPr>
          <p:cNvPr id="37" name="Text 33"/>
          <p:cNvSpPr/>
          <p:nvPr/>
        </p:nvSpPr>
        <p:spPr>
          <a:xfrm>
            <a:off x="11897797" y="4391501"/>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$6,785</a:t>
            </a:r>
            <a:endParaRPr lang="en-US" sz="850" dirty="0"/>
          </a:p>
        </p:txBody>
      </p:sp>
      <p:sp>
        <p:nvSpPr>
          <p:cNvPr id="38" name="Shape 34"/>
          <p:cNvSpPr/>
          <p:nvPr/>
        </p:nvSpPr>
        <p:spPr>
          <a:xfrm>
            <a:off x="6057424" y="4648557"/>
            <a:ext cx="8176022" cy="332661"/>
          </a:xfrm>
          <a:prstGeom prst="rect">
            <a:avLst/>
          </a:prstGeom>
          <a:solidFill>
            <a:srgbClr val="000000">
              <a:alpha val="4000"/>
            </a:srgbClr>
          </a:solidFill>
          <a:ln/>
        </p:spPr>
        <p:txBody>
          <a:bodyPr/>
          <a:lstStyle/>
          <a:p>
            <a:endParaRPr lang="en-US"/>
          </a:p>
        </p:txBody>
      </p:sp>
      <p:sp>
        <p:nvSpPr>
          <p:cNvPr id="39" name="Text 35"/>
          <p:cNvSpPr/>
          <p:nvPr/>
        </p:nvSpPr>
        <p:spPr>
          <a:xfrm>
            <a:off x="6170771" y="4724162"/>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East Harlem North</a:t>
            </a:r>
            <a:endParaRPr lang="en-US" sz="850" dirty="0"/>
          </a:p>
        </p:txBody>
      </p:sp>
      <p:sp>
        <p:nvSpPr>
          <p:cNvPr id="40" name="Text 36"/>
          <p:cNvSpPr/>
          <p:nvPr/>
        </p:nvSpPr>
        <p:spPr>
          <a:xfrm>
            <a:off x="9444990" y="4724162"/>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Manhattan</a:t>
            </a:r>
            <a:endParaRPr lang="en-US" sz="850" dirty="0"/>
          </a:p>
        </p:txBody>
      </p:sp>
      <p:sp>
        <p:nvSpPr>
          <p:cNvPr id="41" name="Text 37"/>
          <p:cNvSpPr/>
          <p:nvPr/>
        </p:nvSpPr>
        <p:spPr>
          <a:xfrm>
            <a:off x="11897797" y="4724162"/>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$6,726</a:t>
            </a:r>
            <a:endParaRPr lang="en-US" sz="850" dirty="0"/>
          </a:p>
        </p:txBody>
      </p:sp>
      <p:sp>
        <p:nvSpPr>
          <p:cNvPr id="42" name="Shape 38"/>
          <p:cNvSpPr/>
          <p:nvPr/>
        </p:nvSpPr>
        <p:spPr>
          <a:xfrm>
            <a:off x="6057424" y="4981218"/>
            <a:ext cx="8176022" cy="332661"/>
          </a:xfrm>
          <a:prstGeom prst="rect">
            <a:avLst/>
          </a:prstGeom>
          <a:solidFill>
            <a:srgbClr val="FFFFFF">
              <a:alpha val="4000"/>
            </a:srgbClr>
          </a:solidFill>
          <a:ln/>
        </p:spPr>
        <p:txBody>
          <a:bodyPr/>
          <a:lstStyle/>
          <a:p>
            <a:endParaRPr lang="en-US"/>
          </a:p>
        </p:txBody>
      </p:sp>
      <p:sp>
        <p:nvSpPr>
          <p:cNvPr id="43" name="Text 39"/>
          <p:cNvSpPr/>
          <p:nvPr/>
        </p:nvSpPr>
        <p:spPr>
          <a:xfrm>
            <a:off x="6170771" y="5056823"/>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Canarsie</a:t>
            </a:r>
            <a:endParaRPr lang="en-US" sz="850" dirty="0"/>
          </a:p>
        </p:txBody>
      </p:sp>
      <p:sp>
        <p:nvSpPr>
          <p:cNvPr id="44" name="Text 40"/>
          <p:cNvSpPr/>
          <p:nvPr/>
        </p:nvSpPr>
        <p:spPr>
          <a:xfrm>
            <a:off x="9444990" y="5056823"/>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Brooklyn</a:t>
            </a:r>
            <a:endParaRPr lang="en-US" sz="850" dirty="0"/>
          </a:p>
        </p:txBody>
      </p:sp>
      <p:sp>
        <p:nvSpPr>
          <p:cNvPr id="45" name="Text 41"/>
          <p:cNvSpPr/>
          <p:nvPr/>
        </p:nvSpPr>
        <p:spPr>
          <a:xfrm>
            <a:off x="11897797" y="5056823"/>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$6,551</a:t>
            </a:r>
            <a:endParaRPr lang="en-US" sz="850" dirty="0"/>
          </a:p>
        </p:txBody>
      </p:sp>
      <p:sp>
        <p:nvSpPr>
          <p:cNvPr id="46" name="Shape 42"/>
          <p:cNvSpPr/>
          <p:nvPr/>
        </p:nvSpPr>
        <p:spPr>
          <a:xfrm>
            <a:off x="6057424" y="5313878"/>
            <a:ext cx="8176022" cy="332661"/>
          </a:xfrm>
          <a:prstGeom prst="rect">
            <a:avLst/>
          </a:prstGeom>
          <a:solidFill>
            <a:srgbClr val="000000">
              <a:alpha val="4000"/>
            </a:srgbClr>
          </a:solidFill>
          <a:ln/>
        </p:spPr>
        <p:txBody>
          <a:bodyPr/>
          <a:lstStyle/>
          <a:p>
            <a:endParaRPr lang="en-US"/>
          </a:p>
        </p:txBody>
      </p:sp>
      <p:sp>
        <p:nvSpPr>
          <p:cNvPr id="47" name="Text 43"/>
          <p:cNvSpPr/>
          <p:nvPr/>
        </p:nvSpPr>
        <p:spPr>
          <a:xfrm>
            <a:off x="6170771" y="5389483"/>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Lenox Hill East</a:t>
            </a:r>
            <a:endParaRPr lang="en-US" sz="850" dirty="0"/>
          </a:p>
        </p:txBody>
      </p:sp>
      <p:sp>
        <p:nvSpPr>
          <p:cNvPr id="48" name="Text 44"/>
          <p:cNvSpPr/>
          <p:nvPr/>
        </p:nvSpPr>
        <p:spPr>
          <a:xfrm>
            <a:off x="9444990" y="5389483"/>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Manhattan</a:t>
            </a:r>
            <a:endParaRPr lang="en-US" sz="850" dirty="0"/>
          </a:p>
        </p:txBody>
      </p:sp>
      <p:sp>
        <p:nvSpPr>
          <p:cNvPr id="49" name="Text 45"/>
          <p:cNvSpPr/>
          <p:nvPr/>
        </p:nvSpPr>
        <p:spPr>
          <a:xfrm>
            <a:off x="11897797" y="5389483"/>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$5,312</a:t>
            </a:r>
            <a:endParaRPr lang="en-US" sz="850" dirty="0"/>
          </a:p>
        </p:txBody>
      </p:sp>
      <p:sp>
        <p:nvSpPr>
          <p:cNvPr id="50" name="Shape 46"/>
          <p:cNvSpPr/>
          <p:nvPr/>
        </p:nvSpPr>
        <p:spPr>
          <a:xfrm>
            <a:off x="6057424" y="5646539"/>
            <a:ext cx="8176022" cy="332661"/>
          </a:xfrm>
          <a:prstGeom prst="rect">
            <a:avLst/>
          </a:prstGeom>
          <a:solidFill>
            <a:srgbClr val="FFFFFF">
              <a:alpha val="4000"/>
            </a:srgbClr>
          </a:solidFill>
          <a:ln/>
        </p:spPr>
        <p:txBody>
          <a:bodyPr/>
          <a:lstStyle/>
          <a:p>
            <a:endParaRPr lang="en-US"/>
          </a:p>
        </p:txBody>
      </p:sp>
      <p:sp>
        <p:nvSpPr>
          <p:cNvPr id="51" name="Text 47"/>
          <p:cNvSpPr/>
          <p:nvPr/>
        </p:nvSpPr>
        <p:spPr>
          <a:xfrm>
            <a:off x="6170771" y="5722144"/>
            <a:ext cx="3039904"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Highbridge</a:t>
            </a:r>
            <a:endParaRPr lang="en-US" sz="850" dirty="0"/>
          </a:p>
        </p:txBody>
      </p:sp>
      <p:sp>
        <p:nvSpPr>
          <p:cNvPr id="52" name="Text 48"/>
          <p:cNvSpPr/>
          <p:nvPr/>
        </p:nvSpPr>
        <p:spPr>
          <a:xfrm>
            <a:off x="9444990" y="5722144"/>
            <a:ext cx="221849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Bronx</a:t>
            </a:r>
            <a:endParaRPr lang="en-US" sz="850" dirty="0"/>
          </a:p>
        </p:txBody>
      </p:sp>
      <p:sp>
        <p:nvSpPr>
          <p:cNvPr id="53" name="Text 49"/>
          <p:cNvSpPr/>
          <p:nvPr/>
        </p:nvSpPr>
        <p:spPr>
          <a:xfrm>
            <a:off x="11897797" y="5722144"/>
            <a:ext cx="2222302" cy="181451"/>
          </a:xfrm>
          <a:prstGeom prst="rect">
            <a:avLst/>
          </a:prstGeom>
          <a:noFill/>
          <a:ln/>
        </p:spPr>
        <p:txBody>
          <a:bodyPr wrap="none" lIns="0" tIns="0" rIns="0" bIns="0" rtlCol="0" anchor="t"/>
          <a:lstStyle/>
          <a:p>
            <a:pPr marL="0" indent="0" algn="l">
              <a:lnSpc>
                <a:spcPts val="1400"/>
              </a:lnSpc>
              <a:buNone/>
            </a:pPr>
            <a:r>
              <a:rPr lang="en-US" sz="850" dirty="0">
                <a:solidFill>
                  <a:srgbClr val="272525"/>
                </a:solidFill>
                <a:latin typeface="Inter" pitchFamily="34" charset="0"/>
                <a:ea typeface="Inter" pitchFamily="34" charset="-122"/>
                <a:cs typeface="Inter" pitchFamily="34" charset="-120"/>
              </a:rPr>
              <a:t>$4,944</a:t>
            </a:r>
            <a:endParaRPr lang="en-US" sz="850" dirty="0"/>
          </a:p>
        </p:txBody>
      </p:sp>
      <p:sp>
        <p:nvSpPr>
          <p:cNvPr id="54" name="Text 50"/>
          <p:cNvSpPr/>
          <p:nvPr/>
        </p:nvSpPr>
        <p:spPr>
          <a:xfrm>
            <a:off x="6091122" y="6584156"/>
            <a:ext cx="8191262" cy="547721"/>
          </a:xfrm>
          <a:prstGeom prst="rect">
            <a:avLst/>
          </a:prstGeom>
          <a:noFill/>
          <a:ln/>
        </p:spPr>
        <p:txBody>
          <a:bodyPr wrap="square" lIns="0" tIns="0" rIns="0" bIns="0" rtlCol="0" anchor="t"/>
          <a:lstStyle/>
          <a:p>
            <a:pPr marL="0" indent="0" algn="l">
              <a:lnSpc>
                <a:spcPts val="1400"/>
              </a:lnSpc>
              <a:buNone/>
            </a:pPr>
            <a:r>
              <a:rPr lang="en-US" sz="1400" dirty="0">
                <a:solidFill>
                  <a:srgbClr val="272525"/>
                </a:solidFill>
                <a:latin typeface="Inter" pitchFamily="34" charset="0"/>
                <a:ea typeface="Inter" pitchFamily="34" charset="-122"/>
                <a:cs typeface="Inter" pitchFamily="34" charset="-120"/>
              </a:rPr>
              <a:t>At zone level, areas like Sheepshead Bay in Brooklyn and Arden Heights in Staten Island stand out with surprisingly high revenue, even though they don't have a huge number of trips.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9140" y="760452"/>
            <a:ext cx="10732889" cy="692944"/>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Petrona Bold" pitchFamily="34" charset="0"/>
                <a:ea typeface="Petrona Bold" pitchFamily="34" charset="-122"/>
                <a:cs typeface="Petrona Bold" pitchFamily="34" charset="-120"/>
              </a:rPr>
              <a:t>Quarterly Tipping Patterns</a:t>
            </a:r>
            <a:endParaRPr lang="en-US" sz="4350" dirty="0"/>
          </a:p>
        </p:txBody>
      </p:sp>
      <p:sp>
        <p:nvSpPr>
          <p:cNvPr id="3" name="Shape 1"/>
          <p:cNvSpPr/>
          <p:nvPr/>
        </p:nvSpPr>
        <p:spPr>
          <a:xfrm>
            <a:off x="739140" y="1875711"/>
            <a:ext cx="6470452" cy="1616869"/>
          </a:xfrm>
          <a:prstGeom prst="roundRect">
            <a:avLst>
              <a:gd name="adj" fmla="val 6786"/>
            </a:avLst>
          </a:prstGeom>
          <a:solidFill>
            <a:srgbClr val="FFFFFF">
              <a:alpha val="95000"/>
            </a:srgbClr>
          </a:solidFill>
          <a:ln w="22860">
            <a:solidFill>
              <a:srgbClr val="B2D4E5"/>
            </a:solidFill>
            <a:prstDash val="solid"/>
          </a:ln>
        </p:spPr>
        <p:txBody>
          <a:bodyPr/>
          <a:lstStyle/>
          <a:p>
            <a:endParaRPr lang="en-US"/>
          </a:p>
        </p:txBody>
      </p:sp>
      <p:sp>
        <p:nvSpPr>
          <p:cNvPr id="4" name="Shape 2"/>
          <p:cNvSpPr/>
          <p:nvPr/>
        </p:nvSpPr>
        <p:spPr>
          <a:xfrm>
            <a:off x="716280" y="1875711"/>
            <a:ext cx="91440" cy="1616869"/>
          </a:xfrm>
          <a:prstGeom prst="roundRect">
            <a:avLst>
              <a:gd name="adj" fmla="val 97001"/>
            </a:avLst>
          </a:prstGeom>
          <a:solidFill>
            <a:srgbClr val="007EBD"/>
          </a:solidFill>
          <a:ln/>
        </p:spPr>
        <p:txBody>
          <a:bodyPr/>
          <a:lstStyle/>
          <a:p>
            <a:endParaRPr lang="en-US"/>
          </a:p>
        </p:txBody>
      </p:sp>
      <p:sp>
        <p:nvSpPr>
          <p:cNvPr id="5" name="Text 3"/>
          <p:cNvSpPr/>
          <p:nvPr/>
        </p:nvSpPr>
        <p:spPr>
          <a:xfrm>
            <a:off x="1041678" y="2109668"/>
            <a:ext cx="3898344" cy="346472"/>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Q1 (Apr–Jun): $981 in total tips</a:t>
            </a:r>
            <a:endParaRPr lang="en-US" sz="2150" dirty="0"/>
          </a:p>
        </p:txBody>
      </p:sp>
      <p:sp>
        <p:nvSpPr>
          <p:cNvPr id="6" name="Text 4"/>
          <p:cNvSpPr/>
          <p:nvPr/>
        </p:nvSpPr>
        <p:spPr>
          <a:xfrm>
            <a:off x="1041678" y="2582823"/>
            <a:ext cx="5933956" cy="675799"/>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Spring/early summer period with moderate to strong tipping activity as weather improves and travel increases.</a:t>
            </a:r>
            <a:endParaRPr lang="en-US" sz="1650" dirty="0"/>
          </a:p>
        </p:txBody>
      </p:sp>
      <p:sp>
        <p:nvSpPr>
          <p:cNvPr id="7" name="Shape 5"/>
          <p:cNvSpPr/>
          <p:nvPr/>
        </p:nvSpPr>
        <p:spPr>
          <a:xfrm>
            <a:off x="7420689" y="1875711"/>
            <a:ext cx="6470571" cy="1616869"/>
          </a:xfrm>
          <a:prstGeom prst="roundRect">
            <a:avLst>
              <a:gd name="adj" fmla="val 6786"/>
            </a:avLst>
          </a:prstGeom>
          <a:solidFill>
            <a:srgbClr val="FFFFFF">
              <a:alpha val="95000"/>
            </a:srgbClr>
          </a:solidFill>
          <a:ln w="22860">
            <a:solidFill>
              <a:srgbClr val="B2D4E5"/>
            </a:solidFill>
            <a:prstDash val="solid"/>
          </a:ln>
        </p:spPr>
        <p:txBody>
          <a:bodyPr/>
          <a:lstStyle/>
          <a:p>
            <a:endParaRPr lang="en-US"/>
          </a:p>
        </p:txBody>
      </p:sp>
      <p:sp>
        <p:nvSpPr>
          <p:cNvPr id="8" name="Shape 6"/>
          <p:cNvSpPr/>
          <p:nvPr/>
        </p:nvSpPr>
        <p:spPr>
          <a:xfrm>
            <a:off x="7397829" y="1875711"/>
            <a:ext cx="91440" cy="1616869"/>
          </a:xfrm>
          <a:prstGeom prst="roundRect">
            <a:avLst>
              <a:gd name="adj" fmla="val 97001"/>
            </a:avLst>
          </a:prstGeom>
          <a:solidFill>
            <a:srgbClr val="007EBD"/>
          </a:solidFill>
          <a:ln/>
        </p:spPr>
        <p:txBody>
          <a:bodyPr/>
          <a:lstStyle/>
          <a:p>
            <a:endParaRPr lang="en-US"/>
          </a:p>
        </p:txBody>
      </p:sp>
      <p:sp>
        <p:nvSpPr>
          <p:cNvPr id="9" name="Text 7"/>
          <p:cNvSpPr/>
          <p:nvPr/>
        </p:nvSpPr>
        <p:spPr>
          <a:xfrm>
            <a:off x="7723227" y="2109668"/>
            <a:ext cx="5264825" cy="346472"/>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Q2 (Jul–Sep): $1,045 in total tips (highest)</a:t>
            </a:r>
            <a:endParaRPr lang="en-US" sz="2150" dirty="0"/>
          </a:p>
        </p:txBody>
      </p:sp>
      <p:sp>
        <p:nvSpPr>
          <p:cNvPr id="10" name="Text 8"/>
          <p:cNvSpPr/>
          <p:nvPr/>
        </p:nvSpPr>
        <p:spPr>
          <a:xfrm>
            <a:off x="7723227" y="2582823"/>
            <a:ext cx="5934075" cy="675799"/>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Highest tipping period in the dataset, reflecting summer peak travel patterns and strong discretionary spending.</a:t>
            </a:r>
            <a:endParaRPr lang="en-US" sz="1650" dirty="0"/>
          </a:p>
        </p:txBody>
      </p:sp>
      <p:sp>
        <p:nvSpPr>
          <p:cNvPr id="11" name="Shape 9"/>
          <p:cNvSpPr/>
          <p:nvPr/>
        </p:nvSpPr>
        <p:spPr>
          <a:xfrm>
            <a:off x="739140" y="3703677"/>
            <a:ext cx="6470452" cy="2292668"/>
          </a:xfrm>
          <a:prstGeom prst="roundRect">
            <a:avLst>
              <a:gd name="adj" fmla="val 4786"/>
            </a:avLst>
          </a:prstGeom>
          <a:solidFill>
            <a:srgbClr val="FFFFFF">
              <a:alpha val="95000"/>
            </a:srgbClr>
          </a:solidFill>
          <a:ln w="22860">
            <a:solidFill>
              <a:srgbClr val="007EBD"/>
            </a:solidFill>
            <a:prstDash val="solid"/>
          </a:ln>
        </p:spPr>
        <p:txBody>
          <a:bodyPr/>
          <a:lstStyle/>
          <a:p>
            <a:endParaRPr lang="en-US"/>
          </a:p>
        </p:txBody>
      </p:sp>
      <p:sp>
        <p:nvSpPr>
          <p:cNvPr id="12" name="Shape 10"/>
          <p:cNvSpPr/>
          <p:nvPr/>
        </p:nvSpPr>
        <p:spPr>
          <a:xfrm>
            <a:off x="716280" y="3703677"/>
            <a:ext cx="91440" cy="2292668"/>
          </a:xfrm>
          <a:prstGeom prst="roundRect">
            <a:avLst>
              <a:gd name="adj" fmla="val 97001"/>
            </a:avLst>
          </a:prstGeom>
          <a:solidFill>
            <a:srgbClr val="007EBD"/>
          </a:solidFill>
          <a:ln/>
        </p:spPr>
        <p:txBody>
          <a:bodyPr/>
          <a:lstStyle/>
          <a:p>
            <a:endParaRPr lang="en-US"/>
          </a:p>
        </p:txBody>
      </p:sp>
      <p:sp>
        <p:nvSpPr>
          <p:cNvPr id="13" name="Text 11"/>
          <p:cNvSpPr/>
          <p:nvPr/>
        </p:nvSpPr>
        <p:spPr>
          <a:xfrm>
            <a:off x="1041678" y="3937635"/>
            <a:ext cx="3979783" cy="346472"/>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Q3 (Oct–Dec): $828 in total tips</a:t>
            </a:r>
            <a:endParaRPr lang="en-US" sz="2150" dirty="0"/>
          </a:p>
        </p:txBody>
      </p:sp>
      <p:sp>
        <p:nvSpPr>
          <p:cNvPr id="14" name="Text 12"/>
          <p:cNvSpPr/>
          <p:nvPr/>
        </p:nvSpPr>
        <p:spPr>
          <a:xfrm>
            <a:off x="1041678" y="4410789"/>
            <a:ext cx="5933956" cy="1351598"/>
          </a:xfrm>
          <a:prstGeom prst="rect">
            <a:avLst/>
          </a:prstGeom>
          <a:noFill/>
          <a:ln/>
        </p:spPr>
        <p:txBody>
          <a:bodyPr wrap="square" lIns="0" tIns="0" rIns="0" bIns="0" rtlCol="0" anchor="t"/>
          <a:lstStyle/>
          <a:p>
            <a:pPr marL="0" indent="0" algn="l">
              <a:lnSpc>
                <a:spcPts val="2650"/>
              </a:lnSpc>
              <a:buNone/>
            </a:pPr>
            <a:r>
              <a:rPr lang="en-US" sz="1650" b="1" dirty="0">
                <a:solidFill>
                  <a:srgbClr val="272525"/>
                </a:solidFill>
                <a:latin typeface="Inter" pitchFamily="34" charset="0"/>
                <a:ea typeface="Inter" pitchFamily="34" charset="-122"/>
                <a:cs typeface="Inter" pitchFamily="34" charset="-120"/>
              </a:rPr>
              <a:t>Data quality issue:</a:t>
            </a:r>
            <a:r>
              <a:rPr lang="en-US" sz="1650" dirty="0">
                <a:solidFill>
                  <a:srgbClr val="272525"/>
                </a:solidFill>
                <a:latin typeface="Inter" pitchFamily="34" charset="0"/>
                <a:ea typeface="Inter" pitchFamily="34" charset="-122"/>
                <a:cs typeface="Inter" pitchFamily="34" charset="-120"/>
              </a:rPr>
              <a:t> December contains only 57 rows, meaning Q3 effectively reflects only October and November. This period represents the fall/early winter season.</a:t>
            </a:r>
            <a:endParaRPr lang="en-US" sz="1650" dirty="0"/>
          </a:p>
        </p:txBody>
      </p:sp>
      <p:sp>
        <p:nvSpPr>
          <p:cNvPr id="15" name="Shape 13"/>
          <p:cNvSpPr/>
          <p:nvPr/>
        </p:nvSpPr>
        <p:spPr>
          <a:xfrm>
            <a:off x="7420689" y="3703677"/>
            <a:ext cx="6470571" cy="2292668"/>
          </a:xfrm>
          <a:prstGeom prst="roundRect">
            <a:avLst>
              <a:gd name="adj" fmla="val 4786"/>
            </a:avLst>
          </a:prstGeom>
          <a:solidFill>
            <a:srgbClr val="FFFFFF">
              <a:alpha val="95000"/>
            </a:srgbClr>
          </a:solidFill>
          <a:ln w="22860">
            <a:solidFill>
              <a:srgbClr val="B2D4E5"/>
            </a:solidFill>
            <a:prstDash val="solid"/>
          </a:ln>
        </p:spPr>
        <p:txBody>
          <a:bodyPr/>
          <a:lstStyle/>
          <a:p>
            <a:endParaRPr lang="en-US"/>
          </a:p>
        </p:txBody>
      </p:sp>
      <p:sp>
        <p:nvSpPr>
          <p:cNvPr id="16" name="Shape 14"/>
          <p:cNvSpPr/>
          <p:nvPr/>
        </p:nvSpPr>
        <p:spPr>
          <a:xfrm>
            <a:off x="7397829" y="3703677"/>
            <a:ext cx="91440" cy="2292668"/>
          </a:xfrm>
          <a:prstGeom prst="roundRect">
            <a:avLst>
              <a:gd name="adj" fmla="val 97001"/>
            </a:avLst>
          </a:prstGeom>
          <a:solidFill>
            <a:srgbClr val="007EBD"/>
          </a:solidFill>
          <a:ln/>
        </p:spPr>
        <p:txBody>
          <a:bodyPr/>
          <a:lstStyle/>
          <a:p>
            <a:endParaRPr lang="en-US"/>
          </a:p>
        </p:txBody>
      </p:sp>
      <p:sp>
        <p:nvSpPr>
          <p:cNvPr id="17" name="Text 15"/>
          <p:cNvSpPr/>
          <p:nvPr/>
        </p:nvSpPr>
        <p:spPr>
          <a:xfrm>
            <a:off x="7723227" y="3937635"/>
            <a:ext cx="4003596" cy="346472"/>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Q4 (Jan–Mar): $807 in total tips</a:t>
            </a:r>
            <a:endParaRPr lang="en-US" sz="2150" dirty="0"/>
          </a:p>
        </p:txBody>
      </p:sp>
      <p:sp>
        <p:nvSpPr>
          <p:cNvPr id="18" name="Text 16"/>
          <p:cNvSpPr/>
          <p:nvPr/>
        </p:nvSpPr>
        <p:spPr>
          <a:xfrm>
            <a:off x="7723227" y="4410789"/>
            <a:ext cx="5934075" cy="675799"/>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Winter period showing moderate activity, influenced by seasonal weather patterns and holiday travel.</a:t>
            </a:r>
            <a:endParaRPr lang="en-US" sz="1650" dirty="0"/>
          </a:p>
        </p:txBody>
      </p:sp>
      <p:sp>
        <p:nvSpPr>
          <p:cNvPr id="19" name="Shape 17"/>
          <p:cNvSpPr/>
          <p:nvPr/>
        </p:nvSpPr>
        <p:spPr>
          <a:xfrm>
            <a:off x="739140" y="6233874"/>
            <a:ext cx="13152120" cy="1235154"/>
          </a:xfrm>
          <a:prstGeom prst="roundRect">
            <a:avLst>
              <a:gd name="adj" fmla="val 7181"/>
            </a:avLst>
          </a:prstGeom>
          <a:solidFill>
            <a:srgbClr val="B3E5FF"/>
          </a:solidFill>
          <a:ln/>
        </p:spPr>
        <p:txBody>
          <a:bodyPr/>
          <a:lstStyle/>
          <a:p>
            <a:endParaRPr lang="en-US"/>
          </a:p>
        </p:txBody>
      </p:sp>
      <p:pic>
        <p:nvPicPr>
          <p:cNvPr id="20" name="Image 0" descr="preencoded.png"/>
          <p:cNvPicPr>
            <a:picLocks noChangeAspect="1"/>
          </p:cNvPicPr>
          <p:nvPr/>
        </p:nvPicPr>
        <p:blipFill>
          <a:blip r:embed="rId3"/>
          <a:stretch>
            <a:fillRect/>
          </a:stretch>
        </p:blipFill>
        <p:spPr>
          <a:xfrm>
            <a:off x="950238" y="6556772"/>
            <a:ext cx="263962" cy="211098"/>
          </a:xfrm>
          <a:prstGeom prst="rect">
            <a:avLst/>
          </a:prstGeom>
        </p:spPr>
      </p:pic>
      <p:sp>
        <p:nvSpPr>
          <p:cNvPr id="21" name="Text 18"/>
          <p:cNvSpPr/>
          <p:nvPr/>
        </p:nvSpPr>
        <p:spPr>
          <a:xfrm>
            <a:off x="1425297" y="6497717"/>
            <a:ext cx="12254865" cy="675799"/>
          </a:xfrm>
          <a:prstGeom prst="rect">
            <a:avLst/>
          </a:prstGeom>
          <a:noFill/>
          <a:ln/>
        </p:spPr>
        <p:txBody>
          <a:bodyPr wrap="square" lIns="0" tIns="0" rIns="0" bIns="0" rtlCol="0" anchor="t"/>
          <a:lstStyle/>
          <a:p>
            <a:pPr marL="0" indent="0" algn="l">
              <a:lnSpc>
                <a:spcPts val="2650"/>
              </a:lnSpc>
              <a:buNone/>
            </a:pPr>
            <a:r>
              <a:rPr lang="en-US" sz="1650" b="1" dirty="0">
                <a:solidFill>
                  <a:srgbClr val="000000"/>
                </a:solidFill>
                <a:latin typeface="Inter" pitchFamily="34" charset="0"/>
                <a:ea typeface="Inter" pitchFamily="34" charset="-122"/>
                <a:cs typeface="Inter" pitchFamily="34" charset="-120"/>
              </a:rPr>
              <a:t>Critical Note:</a:t>
            </a:r>
            <a:r>
              <a:rPr lang="en-US" sz="1650" dirty="0">
                <a:solidFill>
                  <a:srgbClr val="000000"/>
                </a:solidFill>
                <a:latin typeface="Inter" pitchFamily="34" charset="0"/>
                <a:ea typeface="Inter" pitchFamily="34" charset="-122"/>
                <a:cs typeface="Inter" pitchFamily="34" charset="-120"/>
              </a:rPr>
              <a:t> The Q2 peak is misleading due to the incomplete Q3 dataset. Operational planning should account for this data limitation when forecasting seasonal demand.</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66128" y="848439"/>
            <a:ext cx="7784544" cy="1274445"/>
          </a:xfrm>
          <a:prstGeom prst="rect">
            <a:avLst/>
          </a:prstGeom>
          <a:noFill/>
          <a:ln/>
        </p:spPr>
        <p:txBody>
          <a:bodyPr wrap="square" lIns="0" tIns="0" rIns="0" bIns="0" rtlCol="0" anchor="t"/>
          <a:lstStyle/>
          <a:p>
            <a:pPr marL="0" indent="0" algn="l">
              <a:lnSpc>
                <a:spcPts val="5000"/>
              </a:lnSpc>
              <a:buNone/>
            </a:pPr>
            <a:r>
              <a:rPr lang="en-US" sz="4000" b="1" dirty="0">
                <a:solidFill>
                  <a:srgbClr val="000000"/>
                </a:solidFill>
                <a:latin typeface="Petrona Bold" pitchFamily="34" charset="0"/>
                <a:ea typeface="Petrona Bold" pitchFamily="34" charset="-122"/>
                <a:cs typeface="Petrona Bold" pitchFamily="34" charset="-120"/>
              </a:rPr>
              <a:t>Top Tipping Staten Island Pickup Zones (Q2)</a:t>
            </a:r>
            <a:endParaRPr lang="en-US" sz="4000" dirty="0"/>
          </a:p>
        </p:txBody>
      </p:sp>
      <p:sp>
        <p:nvSpPr>
          <p:cNvPr id="4" name="Text 1"/>
          <p:cNvSpPr/>
          <p:nvPr/>
        </p:nvSpPr>
        <p:spPr>
          <a:xfrm>
            <a:off x="6166128" y="2414111"/>
            <a:ext cx="7784544" cy="62126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Only three zones exceeded $100 in tips during Q2, revealing concentrated tipping behaviour in specific neighbourhoods.</a:t>
            </a:r>
            <a:endParaRPr lang="en-US" sz="1500" dirty="0"/>
          </a:p>
        </p:txBody>
      </p:sp>
      <p:sp>
        <p:nvSpPr>
          <p:cNvPr id="5" name="Text 2"/>
          <p:cNvSpPr/>
          <p:nvPr/>
        </p:nvSpPr>
        <p:spPr>
          <a:xfrm>
            <a:off x="6166128" y="3350895"/>
            <a:ext cx="2432923" cy="640913"/>
          </a:xfrm>
          <a:prstGeom prst="rect">
            <a:avLst/>
          </a:prstGeom>
          <a:noFill/>
          <a:ln/>
        </p:spPr>
        <p:txBody>
          <a:bodyPr wrap="none" lIns="0" tIns="0" rIns="0" bIns="0" rtlCol="0" anchor="t"/>
          <a:lstStyle/>
          <a:p>
            <a:pPr marL="0" indent="0" algn="ctr">
              <a:lnSpc>
                <a:spcPts val="5000"/>
              </a:lnSpc>
              <a:buNone/>
            </a:pPr>
            <a:r>
              <a:rPr lang="en-US" sz="5000" b="1" dirty="0">
                <a:solidFill>
                  <a:srgbClr val="272525"/>
                </a:solidFill>
                <a:latin typeface="Petrona Bold" pitchFamily="34" charset="0"/>
                <a:ea typeface="Petrona Bold" pitchFamily="34" charset="-122"/>
                <a:cs typeface="Petrona Bold" pitchFamily="34" charset="-120"/>
              </a:rPr>
              <a:t>$136</a:t>
            </a:r>
            <a:endParaRPr lang="en-US" sz="5000" dirty="0"/>
          </a:p>
        </p:txBody>
      </p:sp>
      <p:sp>
        <p:nvSpPr>
          <p:cNvPr id="6" name="Text 3"/>
          <p:cNvSpPr/>
          <p:nvPr/>
        </p:nvSpPr>
        <p:spPr>
          <a:xfrm>
            <a:off x="6166128" y="4234458"/>
            <a:ext cx="2432923" cy="637223"/>
          </a:xfrm>
          <a:prstGeom prst="rect">
            <a:avLst/>
          </a:prstGeom>
          <a:noFill/>
          <a:ln/>
        </p:spPr>
        <p:txBody>
          <a:bodyPr wrap="square" lIns="0" tIns="0" rIns="0" bIns="0" rtlCol="0" anchor="t"/>
          <a:lstStyle/>
          <a:p>
            <a:pPr marL="0" indent="0" algn="ctr">
              <a:lnSpc>
                <a:spcPts val="2500"/>
              </a:lnSpc>
              <a:buNone/>
            </a:pPr>
            <a:r>
              <a:rPr lang="en-US" sz="2000" b="1" dirty="0">
                <a:solidFill>
                  <a:srgbClr val="272525"/>
                </a:solidFill>
                <a:latin typeface="Petrona Bold" pitchFamily="34" charset="0"/>
                <a:ea typeface="Petrona Bold" pitchFamily="34" charset="-122"/>
                <a:cs typeface="Petrona Bold" pitchFamily="34" charset="-120"/>
              </a:rPr>
              <a:t>Heartland Village/Todt Hill</a:t>
            </a:r>
            <a:endParaRPr lang="en-US" sz="2000" dirty="0"/>
          </a:p>
        </p:txBody>
      </p:sp>
      <p:sp>
        <p:nvSpPr>
          <p:cNvPr id="7" name="Text 4"/>
          <p:cNvSpPr/>
          <p:nvPr/>
        </p:nvSpPr>
        <p:spPr>
          <a:xfrm>
            <a:off x="6166128" y="4988123"/>
            <a:ext cx="2432923" cy="1242536"/>
          </a:xfrm>
          <a:prstGeom prst="rect">
            <a:avLst/>
          </a:prstGeom>
          <a:noFill/>
          <a:ln/>
        </p:spPr>
        <p:txBody>
          <a:bodyPr wrap="square" lIns="0" tIns="0" rIns="0" bIns="0" rtlCol="0" anchor="t"/>
          <a:lstStyle/>
          <a:p>
            <a:pPr marL="0" indent="0" algn="ctr">
              <a:lnSpc>
                <a:spcPts val="2400"/>
              </a:lnSpc>
              <a:buNone/>
            </a:pPr>
            <a:r>
              <a:rPr lang="en-US" sz="1500" dirty="0">
                <a:solidFill>
                  <a:srgbClr val="272525"/>
                </a:solidFill>
                <a:latin typeface="Inter" pitchFamily="34" charset="0"/>
                <a:ea typeface="Inter" pitchFamily="34" charset="-122"/>
                <a:cs typeface="Inter" pitchFamily="34" charset="-120"/>
              </a:rPr>
              <a:t>Highest total tips — affluent residential area with premium service expectations</a:t>
            </a:r>
            <a:endParaRPr lang="en-US" sz="1500" dirty="0"/>
          </a:p>
        </p:txBody>
      </p:sp>
      <p:sp>
        <p:nvSpPr>
          <p:cNvPr id="8" name="Text 5"/>
          <p:cNvSpPr/>
          <p:nvPr/>
        </p:nvSpPr>
        <p:spPr>
          <a:xfrm>
            <a:off x="8841819" y="3350895"/>
            <a:ext cx="2433042" cy="640913"/>
          </a:xfrm>
          <a:prstGeom prst="rect">
            <a:avLst/>
          </a:prstGeom>
          <a:noFill/>
          <a:ln/>
        </p:spPr>
        <p:txBody>
          <a:bodyPr wrap="none" lIns="0" tIns="0" rIns="0" bIns="0" rtlCol="0" anchor="t"/>
          <a:lstStyle/>
          <a:p>
            <a:pPr marL="0" indent="0" algn="ctr">
              <a:lnSpc>
                <a:spcPts val="5000"/>
              </a:lnSpc>
              <a:buNone/>
            </a:pPr>
            <a:r>
              <a:rPr lang="en-US" sz="5000" b="1" dirty="0">
                <a:solidFill>
                  <a:srgbClr val="272525"/>
                </a:solidFill>
                <a:latin typeface="Petrona Bold" pitchFamily="34" charset="0"/>
                <a:ea typeface="Petrona Bold" pitchFamily="34" charset="-122"/>
                <a:cs typeface="Petrona Bold" pitchFamily="34" charset="-120"/>
              </a:rPr>
              <a:t>$112</a:t>
            </a:r>
            <a:endParaRPr lang="en-US" sz="5000" dirty="0"/>
          </a:p>
        </p:txBody>
      </p:sp>
      <p:sp>
        <p:nvSpPr>
          <p:cNvPr id="9" name="Text 6"/>
          <p:cNvSpPr/>
          <p:nvPr/>
        </p:nvSpPr>
        <p:spPr>
          <a:xfrm>
            <a:off x="8841819" y="4234458"/>
            <a:ext cx="2433042" cy="637223"/>
          </a:xfrm>
          <a:prstGeom prst="rect">
            <a:avLst/>
          </a:prstGeom>
          <a:noFill/>
          <a:ln/>
        </p:spPr>
        <p:txBody>
          <a:bodyPr wrap="square" lIns="0" tIns="0" rIns="0" bIns="0" rtlCol="0" anchor="t"/>
          <a:lstStyle/>
          <a:p>
            <a:pPr marL="0" indent="0" algn="ctr">
              <a:lnSpc>
                <a:spcPts val="2500"/>
              </a:lnSpc>
              <a:buNone/>
            </a:pPr>
            <a:r>
              <a:rPr lang="en-US" sz="2000" b="1" dirty="0">
                <a:solidFill>
                  <a:srgbClr val="272525"/>
                </a:solidFill>
                <a:latin typeface="Petrona Bold" pitchFamily="34" charset="0"/>
                <a:ea typeface="Petrona Bold" pitchFamily="34" charset="-122"/>
                <a:cs typeface="Petrona Bold" pitchFamily="34" charset="-120"/>
              </a:rPr>
              <a:t>Bloomfield/Emerson Hill</a:t>
            </a:r>
            <a:endParaRPr lang="en-US" sz="2000" dirty="0"/>
          </a:p>
        </p:txBody>
      </p:sp>
      <p:sp>
        <p:nvSpPr>
          <p:cNvPr id="10" name="Text 7"/>
          <p:cNvSpPr/>
          <p:nvPr/>
        </p:nvSpPr>
        <p:spPr>
          <a:xfrm>
            <a:off x="8841819" y="4988123"/>
            <a:ext cx="2433042" cy="1242536"/>
          </a:xfrm>
          <a:prstGeom prst="rect">
            <a:avLst/>
          </a:prstGeom>
          <a:noFill/>
          <a:ln/>
        </p:spPr>
        <p:txBody>
          <a:bodyPr wrap="square" lIns="0" tIns="0" rIns="0" bIns="0" rtlCol="0" anchor="t"/>
          <a:lstStyle/>
          <a:p>
            <a:pPr marL="0" indent="0" algn="ctr">
              <a:lnSpc>
                <a:spcPts val="2400"/>
              </a:lnSpc>
              <a:buNone/>
            </a:pPr>
            <a:r>
              <a:rPr lang="en-US" sz="1500" dirty="0">
                <a:solidFill>
                  <a:srgbClr val="272525"/>
                </a:solidFill>
                <a:latin typeface="Inter" pitchFamily="34" charset="0"/>
                <a:ea typeface="Inter" pitchFamily="34" charset="-122"/>
                <a:cs typeface="Inter" pitchFamily="34" charset="-120"/>
              </a:rPr>
              <a:t>Second-highest tips — established neighbourhood with steady demand</a:t>
            </a:r>
            <a:endParaRPr lang="en-US" sz="1500" dirty="0"/>
          </a:p>
        </p:txBody>
      </p:sp>
      <p:sp>
        <p:nvSpPr>
          <p:cNvPr id="11" name="Text 8"/>
          <p:cNvSpPr/>
          <p:nvPr/>
        </p:nvSpPr>
        <p:spPr>
          <a:xfrm>
            <a:off x="11517630" y="3350895"/>
            <a:ext cx="2432923" cy="640913"/>
          </a:xfrm>
          <a:prstGeom prst="rect">
            <a:avLst/>
          </a:prstGeom>
          <a:noFill/>
          <a:ln/>
        </p:spPr>
        <p:txBody>
          <a:bodyPr wrap="none" lIns="0" tIns="0" rIns="0" bIns="0" rtlCol="0" anchor="t"/>
          <a:lstStyle/>
          <a:p>
            <a:pPr marL="0" indent="0" algn="ctr">
              <a:lnSpc>
                <a:spcPts val="5000"/>
              </a:lnSpc>
              <a:buNone/>
            </a:pPr>
            <a:r>
              <a:rPr lang="en-US" sz="5000" b="1" dirty="0">
                <a:solidFill>
                  <a:srgbClr val="272525"/>
                </a:solidFill>
                <a:latin typeface="Petrona Bold" pitchFamily="34" charset="0"/>
                <a:ea typeface="Petrona Bold" pitchFamily="34" charset="-122"/>
                <a:cs typeface="Petrona Bold" pitchFamily="34" charset="-120"/>
              </a:rPr>
              <a:t>$104</a:t>
            </a:r>
            <a:endParaRPr lang="en-US" sz="5000" dirty="0"/>
          </a:p>
        </p:txBody>
      </p:sp>
      <p:sp>
        <p:nvSpPr>
          <p:cNvPr id="12" name="Text 9"/>
          <p:cNvSpPr/>
          <p:nvPr/>
        </p:nvSpPr>
        <p:spPr>
          <a:xfrm>
            <a:off x="11517630" y="4234458"/>
            <a:ext cx="2432923" cy="637223"/>
          </a:xfrm>
          <a:prstGeom prst="rect">
            <a:avLst/>
          </a:prstGeom>
          <a:noFill/>
          <a:ln/>
        </p:spPr>
        <p:txBody>
          <a:bodyPr wrap="square" lIns="0" tIns="0" rIns="0" bIns="0" rtlCol="0" anchor="t"/>
          <a:lstStyle/>
          <a:p>
            <a:pPr marL="0" indent="0" algn="ctr">
              <a:lnSpc>
                <a:spcPts val="2500"/>
              </a:lnSpc>
              <a:buNone/>
            </a:pPr>
            <a:r>
              <a:rPr lang="en-US" sz="2000" b="1" dirty="0">
                <a:solidFill>
                  <a:srgbClr val="272525"/>
                </a:solidFill>
                <a:latin typeface="Petrona Bold" pitchFamily="34" charset="0"/>
                <a:ea typeface="Petrona Bold" pitchFamily="34" charset="-122"/>
                <a:cs typeface="Petrona Bold" pitchFamily="34" charset="-120"/>
              </a:rPr>
              <a:t>South Beach/Dongan Hills</a:t>
            </a:r>
            <a:endParaRPr lang="en-US" sz="2000" dirty="0"/>
          </a:p>
        </p:txBody>
      </p:sp>
      <p:sp>
        <p:nvSpPr>
          <p:cNvPr id="13" name="Text 10"/>
          <p:cNvSpPr/>
          <p:nvPr/>
        </p:nvSpPr>
        <p:spPr>
          <a:xfrm>
            <a:off x="11517630" y="4988123"/>
            <a:ext cx="2432923" cy="1242536"/>
          </a:xfrm>
          <a:prstGeom prst="rect">
            <a:avLst/>
          </a:prstGeom>
          <a:noFill/>
          <a:ln/>
        </p:spPr>
        <p:txBody>
          <a:bodyPr wrap="square" lIns="0" tIns="0" rIns="0" bIns="0" rtlCol="0" anchor="t"/>
          <a:lstStyle/>
          <a:p>
            <a:pPr marL="0" indent="0" algn="ctr">
              <a:lnSpc>
                <a:spcPts val="2400"/>
              </a:lnSpc>
              <a:buNone/>
            </a:pPr>
            <a:r>
              <a:rPr lang="en-US" sz="1500" dirty="0">
                <a:solidFill>
                  <a:srgbClr val="272525"/>
                </a:solidFill>
                <a:latin typeface="Inter" pitchFamily="34" charset="0"/>
                <a:ea typeface="Inter" pitchFamily="34" charset="-122"/>
                <a:cs typeface="Inter" pitchFamily="34" charset="-120"/>
              </a:rPr>
              <a:t>Strong coastal zone performance — tourism and local activity combined</a:t>
            </a:r>
            <a:endParaRPr lang="en-US" sz="1500" dirty="0"/>
          </a:p>
        </p:txBody>
      </p:sp>
      <p:sp>
        <p:nvSpPr>
          <p:cNvPr id="14" name="Text 11"/>
          <p:cNvSpPr/>
          <p:nvPr/>
        </p:nvSpPr>
        <p:spPr>
          <a:xfrm>
            <a:off x="6166128" y="6449139"/>
            <a:ext cx="7784544" cy="931902"/>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While these zones show concentrated tipping behaviour, a full assessment of their value requires understanding trip volumes in each area. High tips combined with high trip frequency would indicate true priority deployment areas.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0925" y="574238"/>
            <a:ext cx="10291286" cy="685205"/>
          </a:xfrm>
          <a:prstGeom prst="rect">
            <a:avLst/>
          </a:prstGeom>
          <a:noFill/>
          <a:ln/>
        </p:spPr>
        <p:txBody>
          <a:bodyPr wrap="none" lIns="0" tIns="0" rIns="0" bIns="0" rtlCol="0" anchor="t"/>
          <a:lstStyle/>
          <a:p>
            <a:pPr marL="0" indent="0" algn="l">
              <a:lnSpc>
                <a:spcPts val="5350"/>
              </a:lnSpc>
              <a:buNone/>
            </a:pPr>
            <a:r>
              <a:rPr lang="en-US" sz="4300" b="1" dirty="0">
                <a:solidFill>
                  <a:srgbClr val="000000"/>
                </a:solidFill>
                <a:latin typeface="Petrona Bold" pitchFamily="34" charset="0"/>
                <a:ea typeface="Petrona Bold" pitchFamily="34" charset="-122"/>
                <a:cs typeface="Petrona Bold" pitchFamily="34" charset="-120"/>
              </a:rPr>
              <a:t>Tip Efficiency: Revenue Per Trip Analysis</a:t>
            </a:r>
            <a:endParaRPr lang="en-US" sz="4300" dirty="0"/>
          </a:p>
        </p:txBody>
      </p:sp>
      <p:pic>
        <p:nvPicPr>
          <p:cNvPr id="3" name="Image 0" descr="preencoded.png"/>
          <p:cNvPicPr>
            <a:picLocks noChangeAspect="1"/>
          </p:cNvPicPr>
          <p:nvPr/>
        </p:nvPicPr>
        <p:blipFill>
          <a:blip r:embed="rId3"/>
          <a:stretch>
            <a:fillRect/>
          </a:stretch>
        </p:blipFill>
        <p:spPr>
          <a:xfrm>
            <a:off x="730925" y="1807607"/>
            <a:ext cx="7013496" cy="3927515"/>
          </a:xfrm>
          <a:prstGeom prst="rect">
            <a:avLst/>
          </a:prstGeom>
        </p:spPr>
      </p:pic>
      <p:sp>
        <p:nvSpPr>
          <p:cNvPr id="4" name="Text 1"/>
          <p:cNvSpPr/>
          <p:nvPr/>
        </p:nvSpPr>
        <p:spPr>
          <a:xfrm>
            <a:off x="8261390" y="1781532"/>
            <a:ext cx="4040981" cy="411123"/>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Petrona Bold" pitchFamily="34" charset="0"/>
                <a:ea typeface="Petrona Bold" pitchFamily="34" charset="-122"/>
                <a:cs typeface="Petrona Bold" pitchFamily="34" charset="-120"/>
              </a:rPr>
              <a:t>Tip Efficiency Comparison</a:t>
            </a:r>
            <a:endParaRPr lang="en-US" sz="2550" dirty="0"/>
          </a:p>
        </p:txBody>
      </p:sp>
      <p:sp>
        <p:nvSpPr>
          <p:cNvPr id="5" name="Text 2"/>
          <p:cNvSpPr/>
          <p:nvPr/>
        </p:nvSpPr>
        <p:spPr>
          <a:xfrm>
            <a:off x="8261390" y="2401491"/>
            <a:ext cx="5645706" cy="1002268"/>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Heartland Village/Todt Hill stands out clearly as the most tip-efficient zone with approximately </a:t>
            </a:r>
            <a:r>
              <a:rPr lang="en-US" sz="1600" b="1" dirty="0">
                <a:solidFill>
                  <a:srgbClr val="007EBD"/>
                </a:solidFill>
                <a:latin typeface="Inter" pitchFamily="34" charset="0"/>
                <a:ea typeface="Inter" pitchFamily="34" charset="-122"/>
                <a:cs typeface="Inter" pitchFamily="34" charset="-120"/>
              </a:rPr>
              <a:t>$3 per trip</a:t>
            </a:r>
            <a:r>
              <a:rPr lang="en-US" sz="1600" dirty="0">
                <a:solidFill>
                  <a:srgbClr val="272525"/>
                </a:solidFill>
                <a:latin typeface="Inter" pitchFamily="34" charset="0"/>
                <a:ea typeface="Inter" pitchFamily="34" charset="-122"/>
                <a:cs typeface="Inter" pitchFamily="34" charset="-120"/>
              </a:rPr>
              <a:t> — almost </a:t>
            </a:r>
            <a:r>
              <a:rPr lang="en-US" sz="1600" b="1" dirty="0">
                <a:solidFill>
                  <a:srgbClr val="272525"/>
                </a:solidFill>
                <a:latin typeface="Inter" pitchFamily="34" charset="0"/>
                <a:ea typeface="Inter" pitchFamily="34" charset="-122"/>
                <a:cs typeface="Inter" pitchFamily="34" charset="-120"/>
              </a:rPr>
              <a:t>9 times higher</a:t>
            </a:r>
            <a:r>
              <a:rPr lang="en-US" sz="1600" dirty="0">
                <a:solidFill>
                  <a:srgbClr val="272525"/>
                </a:solidFill>
                <a:latin typeface="Inter" pitchFamily="34" charset="0"/>
                <a:ea typeface="Inter" pitchFamily="34" charset="-122"/>
                <a:cs typeface="Inter" pitchFamily="34" charset="-120"/>
              </a:rPr>
              <a:t> than Bloomfield/Emerson Hill.</a:t>
            </a:r>
            <a:endParaRPr lang="en-US" sz="1600" dirty="0"/>
          </a:p>
        </p:txBody>
      </p:sp>
      <p:sp>
        <p:nvSpPr>
          <p:cNvPr id="6" name="Text 3"/>
          <p:cNvSpPr/>
          <p:nvPr/>
        </p:nvSpPr>
        <p:spPr>
          <a:xfrm>
            <a:off x="8261390" y="3591639"/>
            <a:ext cx="5645706" cy="1002268"/>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This exceptional efficiency (£136 total tips from just 45 trips) makes it the single most valuable pickup location for maximising driver earnings per journey.</a:t>
            </a:r>
            <a:endParaRPr lang="en-US" sz="1600" dirty="0"/>
          </a:p>
        </p:txBody>
      </p:sp>
      <p:sp>
        <p:nvSpPr>
          <p:cNvPr id="7" name="Shape 4"/>
          <p:cNvSpPr/>
          <p:nvPr/>
        </p:nvSpPr>
        <p:spPr>
          <a:xfrm>
            <a:off x="730925" y="6204942"/>
            <a:ext cx="13168551" cy="1814751"/>
          </a:xfrm>
          <a:prstGeom prst="roundRect">
            <a:avLst>
              <a:gd name="adj" fmla="val 4833"/>
            </a:avLst>
          </a:prstGeom>
          <a:noFill/>
          <a:ln w="7620">
            <a:solidFill>
              <a:srgbClr val="000000">
                <a:alpha val="8000"/>
              </a:srgbClr>
            </a:solidFill>
            <a:prstDash val="solid"/>
          </a:ln>
        </p:spPr>
        <p:txBody>
          <a:bodyPr/>
          <a:lstStyle/>
          <a:p>
            <a:endParaRPr lang="en-US"/>
          </a:p>
        </p:txBody>
      </p:sp>
      <p:sp>
        <p:nvSpPr>
          <p:cNvPr id="8" name="Shape 5"/>
          <p:cNvSpPr/>
          <p:nvPr/>
        </p:nvSpPr>
        <p:spPr>
          <a:xfrm>
            <a:off x="738545" y="6212562"/>
            <a:ext cx="13153311" cy="599837"/>
          </a:xfrm>
          <a:prstGeom prst="rect">
            <a:avLst/>
          </a:prstGeom>
          <a:solidFill>
            <a:srgbClr val="FFFFFF">
              <a:alpha val="4000"/>
            </a:srgbClr>
          </a:solidFill>
          <a:ln/>
        </p:spPr>
        <p:txBody>
          <a:bodyPr/>
          <a:lstStyle/>
          <a:p>
            <a:endParaRPr lang="en-US"/>
          </a:p>
        </p:txBody>
      </p:sp>
      <p:sp>
        <p:nvSpPr>
          <p:cNvPr id="9" name="Text 6"/>
          <p:cNvSpPr/>
          <p:nvPr/>
        </p:nvSpPr>
        <p:spPr>
          <a:xfrm>
            <a:off x="947737" y="6345436"/>
            <a:ext cx="4839772" cy="334089"/>
          </a:xfrm>
          <a:prstGeom prst="rect">
            <a:avLst/>
          </a:prstGeom>
          <a:noFill/>
          <a:ln/>
        </p:spPr>
        <p:txBody>
          <a:bodyPr wrap="none" lIns="0" tIns="0" rIns="0" bIns="0" rtlCol="0" anchor="t"/>
          <a:lstStyle/>
          <a:p>
            <a:pPr marL="0" indent="0" algn="l">
              <a:lnSpc>
                <a:spcPts val="2600"/>
              </a:lnSpc>
              <a:buNone/>
            </a:pPr>
            <a:r>
              <a:rPr lang="en-US" sz="1600" b="1" dirty="0">
                <a:solidFill>
                  <a:srgbClr val="272525"/>
                </a:solidFill>
                <a:latin typeface="Inter" pitchFamily="34" charset="0"/>
                <a:ea typeface="Inter" pitchFamily="34" charset="-122"/>
                <a:cs typeface="Inter" pitchFamily="34" charset="-120"/>
              </a:rPr>
              <a:t>Pickup Zone</a:t>
            </a:r>
            <a:endParaRPr lang="en-US" sz="1600" dirty="0"/>
          </a:p>
        </p:txBody>
      </p:sp>
      <p:sp>
        <p:nvSpPr>
          <p:cNvPr id="10" name="Text 7"/>
          <p:cNvSpPr/>
          <p:nvPr/>
        </p:nvSpPr>
        <p:spPr>
          <a:xfrm>
            <a:off x="6212800" y="6345436"/>
            <a:ext cx="2205276" cy="334089"/>
          </a:xfrm>
          <a:prstGeom prst="rect">
            <a:avLst/>
          </a:prstGeom>
          <a:noFill/>
          <a:ln/>
        </p:spPr>
        <p:txBody>
          <a:bodyPr wrap="none" lIns="0" tIns="0" rIns="0" bIns="0" rtlCol="0" anchor="t"/>
          <a:lstStyle/>
          <a:p>
            <a:pPr marL="0" indent="0" algn="l">
              <a:lnSpc>
                <a:spcPts val="2600"/>
              </a:lnSpc>
              <a:buNone/>
            </a:pPr>
            <a:r>
              <a:rPr lang="en-US" sz="1600" b="1" dirty="0">
                <a:solidFill>
                  <a:srgbClr val="272525"/>
                </a:solidFill>
                <a:latin typeface="Inter" pitchFamily="34" charset="0"/>
                <a:ea typeface="Inter" pitchFamily="34" charset="-122"/>
                <a:cs typeface="Inter" pitchFamily="34" charset="-120"/>
              </a:rPr>
              <a:t>Total Tips</a:t>
            </a:r>
            <a:endParaRPr lang="en-US" sz="1600" dirty="0"/>
          </a:p>
        </p:txBody>
      </p:sp>
      <p:sp>
        <p:nvSpPr>
          <p:cNvPr id="11" name="Text 8"/>
          <p:cNvSpPr/>
          <p:nvPr/>
        </p:nvSpPr>
        <p:spPr>
          <a:xfrm>
            <a:off x="8843367" y="6345436"/>
            <a:ext cx="2205276" cy="334089"/>
          </a:xfrm>
          <a:prstGeom prst="rect">
            <a:avLst/>
          </a:prstGeom>
          <a:noFill/>
          <a:ln/>
        </p:spPr>
        <p:txBody>
          <a:bodyPr wrap="none" lIns="0" tIns="0" rIns="0" bIns="0" rtlCol="0" anchor="t"/>
          <a:lstStyle/>
          <a:p>
            <a:pPr marL="0" indent="0" algn="l">
              <a:lnSpc>
                <a:spcPts val="2600"/>
              </a:lnSpc>
              <a:buNone/>
            </a:pPr>
            <a:r>
              <a:rPr lang="en-US" sz="1600" b="1" dirty="0">
                <a:solidFill>
                  <a:srgbClr val="272525"/>
                </a:solidFill>
                <a:latin typeface="Inter" pitchFamily="34" charset="0"/>
                <a:ea typeface="Inter" pitchFamily="34" charset="-122"/>
                <a:cs typeface="Inter" pitchFamily="34" charset="-120"/>
              </a:rPr>
              <a:t>Trip Count</a:t>
            </a:r>
            <a:endParaRPr lang="en-US" sz="1600" dirty="0"/>
          </a:p>
        </p:txBody>
      </p:sp>
      <p:sp>
        <p:nvSpPr>
          <p:cNvPr id="12" name="Text 9"/>
          <p:cNvSpPr/>
          <p:nvPr/>
        </p:nvSpPr>
        <p:spPr>
          <a:xfrm>
            <a:off x="11473934" y="6345436"/>
            <a:ext cx="2209086" cy="334089"/>
          </a:xfrm>
          <a:prstGeom prst="rect">
            <a:avLst/>
          </a:prstGeom>
          <a:noFill/>
          <a:ln/>
        </p:spPr>
        <p:txBody>
          <a:bodyPr wrap="none" lIns="0" tIns="0" rIns="0" bIns="0" rtlCol="0" anchor="t"/>
          <a:lstStyle/>
          <a:p>
            <a:pPr marL="0" indent="0" algn="l">
              <a:lnSpc>
                <a:spcPts val="2600"/>
              </a:lnSpc>
              <a:buNone/>
            </a:pPr>
            <a:r>
              <a:rPr lang="en-US" sz="1600" b="1" dirty="0">
                <a:solidFill>
                  <a:srgbClr val="272525"/>
                </a:solidFill>
                <a:latin typeface="Inter" pitchFamily="34" charset="0"/>
                <a:ea typeface="Inter" pitchFamily="34" charset="-122"/>
                <a:cs typeface="Inter" pitchFamily="34" charset="-120"/>
              </a:rPr>
              <a:t>Avg Tip/Trip</a:t>
            </a:r>
            <a:endParaRPr lang="en-US" sz="1600" dirty="0"/>
          </a:p>
        </p:txBody>
      </p:sp>
      <p:sp>
        <p:nvSpPr>
          <p:cNvPr id="13" name="Shape 10"/>
          <p:cNvSpPr/>
          <p:nvPr/>
        </p:nvSpPr>
        <p:spPr>
          <a:xfrm>
            <a:off x="738545" y="6812399"/>
            <a:ext cx="13153311" cy="599837"/>
          </a:xfrm>
          <a:prstGeom prst="rect">
            <a:avLst/>
          </a:prstGeom>
          <a:solidFill>
            <a:srgbClr val="000000">
              <a:alpha val="4000"/>
            </a:srgbClr>
          </a:solidFill>
          <a:ln/>
        </p:spPr>
        <p:txBody>
          <a:bodyPr/>
          <a:lstStyle/>
          <a:p>
            <a:endParaRPr lang="en-US"/>
          </a:p>
        </p:txBody>
      </p:sp>
      <p:sp>
        <p:nvSpPr>
          <p:cNvPr id="14" name="Text 11"/>
          <p:cNvSpPr/>
          <p:nvPr/>
        </p:nvSpPr>
        <p:spPr>
          <a:xfrm>
            <a:off x="947737" y="6945273"/>
            <a:ext cx="4839772" cy="334089"/>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Heartland Village/Todt Hill</a:t>
            </a:r>
            <a:endParaRPr lang="en-US" sz="1600" dirty="0"/>
          </a:p>
        </p:txBody>
      </p:sp>
      <p:sp>
        <p:nvSpPr>
          <p:cNvPr id="15" name="Text 12"/>
          <p:cNvSpPr/>
          <p:nvPr/>
        </p:nvSpPr>
        <p:spPr>
          <a:xfrm>
            <a:off x="6212800" y="6945273"/>
            <a:ext cx="2205276" cy="334089"/>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$136</a:t>
            </a:r>
            <a:endParaRPr lang="en-US" sz="1600" dirty="0"/>
          </a:p>
        </p:txBody>
      </p:sp>
      <p:sp>
        <p:nvSpPr>
          <p:cNvPr id="16" name="Text 13"/>
          <p:cNvSpPr/>
          <p:nvPr/>
        </p:nvSpPr>
        <p:spPr>
          <a:xfrm>
            <a:off x="8843367" y="6945273"/>
            <a:ext cx="2205276" cy="334089"/>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45</a:t>
            </a:r>
            <a:endParaRPr lang="en-US" sz="1600" dirty="0"/>
          </a:p>
        </p:txBody>
      </p:sp>
      <p:sp>
        <p:nvSpPr>
          <p:cNvPr id="17" name="Text 14"/>
          <p:cNvSpPr/>
          <p:nvPr/>
        </p:nvSpPr>
        <p:spPr>
          <a:xfrm>
            <a:off x="11473934" y="6945273"/>
            <a:ext cx="2209086" cy="334089"/>
          </a:xfrm>
          <a:prstGeom prst="rect">
            <a:avLst/>
          </a:prstGeom>
          <a:noFill/>
          <a:ln/>
        </p:spPr>
        <p:txBody>
          <a:bodyPr wrap="none" lIns="0" tIns="0" rIns="0" bIns="0" rtlCol="0" anchor="t"/>
          <a:lstStyle/>
          <a:p>
            <a:pPr marL="0" indent="0" algn="l">
              <a:lnSpc>
                <a:spcPts val="2600"/>
              </a:lnSpc>
              <a:buNone/>
            </a:pPr>
            <a:r>
              <a:rPr lang="en-US" sz="1600" b="1" dirty="0">
                <a:solidFill>
                  <a:srgbClr val="007EBD"/>
                </a:solidFill>
                <a:latin typeface="Inter" pitchFamily="34" charset="0"/>
                <a:ea typeface="Inter" pitchFamily="34" charset="-122"/>
                <a:cs typeface="Inter" pitchFamily="34" charset="-120"/>
              </a:rPr>
              <a:t>$3.02</a:t>
            </a:r>
            <a:endParaRPr lang="en-US" sz="1600" dirty="0"/>
          </a:p>
        </p:txBody>
      </p:sp>
      <p:sp>
        <p:nvSpPr>
          <p:cNvPr id="18" name="Shape 15"/>
          <p:cNvSpPr/>
          <p:nvPr/>
        </p:nvSpPr>
        <p:spPr>
          <a:xfrm>
            <a:off x="738545" y="7412236"/>
            <a:ext cx="13153311" cy="599837"/>
          </a:xfrm>
          <a:prstGeom prst="rect">
            <a:avLst/>
          </a:prstGeom>
          <a:solidFill>
            <a:srgbClr val="FFFFFF">
              <a:alpha val="4000"/>
            </a:srgbClr>
          </a:solidFill>
          <a:ln/>
        </p:spPr>
        <p:txBody>
          <a:bodyPr/>
          <a:lstStyle/>
          <a:p>
            <a:endParaRPr lang="en-US"/>
          </a:p>
        </p:txBody>
      </p:sp>
      <p:sp>
        <p:nvSpPr>
          <p:cNvPr id="19" name="Text 16"/>
          <p:cNvSpPr/>
          <p:nvPr/>
        </p:nvSpPr>
        <p:spPr>
          <a:xfrm>
            <a:off x="947737" y="7545110"/>
            <a:ext cx="4839772" cy="334089"/>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Bloomfield/Emerson Hill</a:t>
            </a:r>
            <a:endParaRPr lang="en-US" sz="1600" dirty="0"/>
          </a:p>
        </p:txBody>
      </p:sp>
      <p:sp>
        <p:nvSpPr>
          <p:cNvPr id="20" name="Text 17"/>
          <p:cNvSpPr/>
          <p:nvPr/>
        </p:nvSpPr>
        <p:spPr>
          <a:xfrm>
            <a:off x="6212800" y="7545110"/>
            <a:ext cx="2205276" cy="334089"/>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$112</a:t>
            </a:r>
            <a:endParaRPr lang="en-US" sz="1600" dirty="0"/>
          </a:p>
        </p:txBody>
      </p:sp>
      <p:sp>
        <p:nvSpPr>
          <p:cNvPr id="21" name="Text 18"/>
          <p:cNvSpPr/>
          <p:nvPr/>
        </p:nvSpPr>
        <p:spPr>
          <a:xfrm>
            <a:off x="8843367" y="7545110"/>
            <a:ext cx="2205276" cy="334089"/>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327</a:t>
            </a:r>
            <a:endParaRPr lang="en-US" sz="1600" dirty="0"/>
          </a:p>
        </p:txBody>
      </p:sp>
      <p:sp>
        <p:nvSpPr>
          <p:cNvPr id="22" name="Text 19"/>
          <p:cNvSpPr/>
          <p:nvPr/>
        </p:nvSpPr>
        <p:spPr>
          <a:xfrm>
            <a:off x="11473934" y="7545110"/>
            <a:ext cx="2209086" cy="334089"/>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$0.34</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220526" y="189777"/>
            <a:ext cx="6414016"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Monthly Trip Volume Trends Throughout 2022</a:t>
            </a:r>
            <a:endParaRPr lang="en-US" sz="2300" dirty="0"/>
          </a:p>
        </p:txBody>
      </p:sp>
      <p:pic>
        <p:nvPicPr>
          <p:cNvPr id="3" name="Image 0" descr="preencoded.png"/>
          <p:cNvPicPr>
            <a:picLocks noChangeAspect="1"/>
          </p:cNvPicPr>
          <p:nvPr/>
        </p:nvPicPr>
        <p:blipFill>
          <a:blip r:embed="rId3"/>
          <a:stretch>
            <a:fillRect/>
          </a:stretch>
        </p:blipFill>
        <p:spPr>
          <a:xfrm>
            <a:off x="436126" y="893266"/>
            <a:ext cx="5638103" cy="3507910"/>
          </a:xfrm>
          <a:prstGeom prst="rect">
            <a:avLst/>
          </a:prstGeom>
        </p:spPr>
      </p:pic>
      <p:sp>
        <p:nvSpPr>
          <p:cNvPr id="4" name="Text 1"/>
          <p:cNvSpPr/>
          <p:nvPr/>
        </p:nvSpPr>
        <p:spPr>
          <a:xfrm>
            <a:off x="7090766" y="1016308"/>
            <a:ext cx="13836729" cy="181451"/>
          </a:xfrm>
          <a:prstGeom prst="rect">
            <a:avLst/>
          </a:prstGeom>
          <a:noFill/>
          <a:ln/>
        </p:spPr>
        <p:txBody>
          <a:bodyPr wrap="none" lIns="0" tIns="0" rIns="0" bIns="0" rtlCol="0" anchor="t"/>
          <a:lstStyle/>
          <a:p>
            <a:pPr marL="0" indent="0" algn="l">
              <a:lnSpc>
                <a:spcPts val="1400"/>
              </a:lnSpc>
              <a:buNone/>
            </a:pPr>
            <a:r>
              <a:rPr lang="en-US" dirty="0">
                <a:solidFill>
                  <a:srgbClr val="272525"/>
                </a:solidFill>
                <a:latin typeface="Inter" pitchFamily="34" charset="0"/>
                <a:ea typeface="Inter" pitchFamily="34" charset="-122"/>
                <a:cs typeface="Inter" pitchFamily="34" charset="-120"/>
              </a:rPr>
              <a:t>Trip volumes rise steadily from January and stay consistently high </a:t>
            </a:r>
          </a:p>
          <a:p>
            <a:pPr marL="0" indent="0" algn="l">
              <a:lnSpc>
                <a:spcPts val="1400"/>
              </a:lnSpc>
              <a:buNone/>
            </a:pPr>
            <a:endParaRPr lang="en-US" dirty="0">
              <a:solidFill>
                <a:srgbClr val="272525"/>
              </a:solidFill>
              <a:latin typeface="Inter" pitchFamily="34" charset="0"/>
              <a:ea typeface="Inter" pitchFamily="34" charset="-122"/>
              <a:cs typeface="Inter" pitchFamily="34" charset="-120"/>
            </a:endParaRPr>
          </a:p>
          <a:p>
            <a:pPr marL="0" indent="0" algn="l">
              <a:lnSpc>
                <a:spcPts val="1400"/>
              </a:lnSpc>
              <a:buNone/>
            </a:pPr>
            <a:r>
              <a:rPr lang="en-US" dirty="0">
                <a:solidFill>
                  <a:srgbClr val="272525"/>
                </a:solidFill>
                <a:latin typeface="Inter" pitchFamily="34" charset="0"/>
                <a:ea typeface="Inter" pitchFamily="34" charset="-122"/>
                <a:cs typeface="Inter" pitchFamily="34" charset="-120"/>
              </a:rPr>
              <a:t>between June and October, with a small dip in September. </a:t>
            </a:r>
          </a:p>
          <a:p>
            <a:pPr marL="0" indent="0" algn="l">
              <a:lnSpc>
                <a:spcPts val="1400"/>
              </a:lnSpc>
              <a:buNone/>
            </a:pPr>
            <a:endParaRPr lang="en-US" dirty="0">
              <a:solidFill>
                <a:srgbClr val="272525"/>
              </a:solidFill>
              <a:latin typeface="Inter" pitchFamily="34" charset="0"/>
              <a:ea typeface="Inter" pitchFamily="34" charset="-122"/>
              <a:cs typeface="Inter" pitchFamily="34" charset="-120"/>
            </a:endParaRPr>
          </a:p>
          <a:p>
            <a:pPr marL="0" indent="0" algn="l">
              <a:lnSpc>
                <a:spcPts val="1400"/>
              </a:lnSpc>
              <a:buNone/>
            </a:pPr>
            <a:r>
              <a:rPr lang="en-US" b="1" dirty="0">
                <a:solidFill>
                  <a:srgbClr val="007EBD"/>
                </a:solidFill>
                <a:latin typeface="Inter" pitchFamily="34" charset="0"/>
                <a:ea typeface="Inter" pitchFamily="34" charset="-122"/>
                <a:cs typeface="Inter" pitchFamily="34" charset="-120"/>
              </a:rPr>
              <a:t>Demand peaks in August</a:t>
            </a:r>
            <a:r>
              <a:rPr lang="en-US" dirty="0">
                <a:solidFill>
                  <a:srgbClr val="272525"/>
                </a:solidFill>
                <a:latin typeface="Inter" pitchFamily="34" charset="0"/>
                <a:ea typeface="Inter" pitchFamily="34" charset="-122"/>
                <a:cs typeface="Inter" pitchFamily="34" charset="-120"/>
              </a:rPr>
              <a:t>, representing the optimal month for </a:t>
            </a:r>
          </a:p>
          <a:p>
            <a:pPr marL="0" indent="0" algn="l">
              <a:lnSpc>
                <a:spcPts val="1400"/>
              </a:lnSpc>
              <a:buNone/>
            </a:pPr>
            <a:endParaRPr lang="en-US" dirty="0">
              <a:solidFill>
                <a:srgbClr val="272525"/>
              </a:solidFill>
              <a:latin typeface="Inter" pitchFamily="34" charset="0"/>
              <a:ea typeface="Inter" pitchFamily="34" charset="-122"/>
              <a:cs typeface="Inter" pitchFamily="34" charset="-120"/>
            </a:endParaRPr>
          </a:p>
          <a:p>
            <a:pPr marL="0" indent="0" algn="l">
              <a:lnSpc>
                <a:spcPts val="1400"/>
              </a:lnSpc>
              <a:buNone/>
            </a:pPr>
            <a:r>
              <a:rPr lang="en-US" dirty="0">
                <a:solidFill>
                  <a:srgbClr val="272525"/>
                </a:solidFill>
                <a:latin typeface="Inter" pitchFamily="34" charset="0"/>
                <a:ea typeface="Inter" pitchFamily="34" charset="-122"/>
                <a:cs typeface="Inter" pitchFamily="34" charset="-120"/>
              </a:rPr>
              <a:t>revenue generation.</a:t>
            </a:r>
            <a:endParaRPr lang="en-US" dirty="0"/>
          </a:p>
        </p:txBody>
      </p:sp>
      <p:sp>
        <p:nvSpPr>
          <p:cNvPr id="5" name="Shape 2"/>
          <p:cNvSpPr/>
          <p:nvPr/>
        </p:nvSpPr>
        <p:spPr>
          <a:xfrm>
            <a:off x="7159529" y="4598386"/>
            <a:ext cx="45719" cy="3083570"/>
          </a:xfrm>
          <a:prstGeom prst="roundRect">
            <a:avLst>
              <a:gd name="adj" fmla="val 312558"/>
            </a:avLst>
          </a:prstGeom>
          <a:solidFill>
            <a:srgbClr val="B2D4E5"/>
          </a:solidFill>
          <a:ln/>
        </p:spPr>
        <p:txBody>
          <a:bodyPr/>
          <a:lstStyle/>
          <a:p>
            <a:endParaRPr lang="en-US"/>
          </a:p>
        </p:txBody>
      </p:sp>
      <p:sp>
        <p:nvSpPr>
          <p:cNvPr id="6" name="Shape 3"/>
          <p:cNvSpPr/>
          <p:nvPr/>
        </p:nvSpPr>
        <p:spPr>
          <a:xfrm>
            <a:off x="6727625" y="4679349"/>
            <a:ext cx="340162" cy="15240"/>
          </a:xfrm>
          <a:prstGeom prst="roundRect">
            <a:avLst>
              <a:gd name="adj" fmla="val 312558"/>
            </a:avLst>
          </a:prstGeom>
          <a:solidFill>
            <a:srgbClr val="B2D4E5"/>
          </a:solidFill>
          <a:ln/>
        </p:spPr>
        <p:txBody>
          <a:bodyPr/>
          <a:lstStyle/>
          <a:p>
            <a:endParaRPr lang="en-US"/>
          </a:p>
        </p:txBody>
      </p:sp>
      <p:sp>
        <p:nvSpPr>
          <p:cNvPr id="7" name="Shape 4"/>
          <p:cNvSpPr/>
          <p:nvPr/>
        </p:nvSpPr>
        <p:spPr>
          <a:xfrm>
            <a:off x="7052547" y="4559453"/>
            <a:ext cx="255151" cy="255151"/>
          </a:xfrm>
          <a:prstGeom prst="roundRect">
            <a:avLst>
              <a:gd name="adj" fmla="val 18669"/>
            </a:avLst>
          </a:prstGeom>
          <a:solidFill>
            <a:srgbClr val="CCEEFF"/>
          </a:solidFill>
          <a:ln w="7620">
            <a:solidFill>
              <a:srgbClr val="B2D4E5"/>
            </a:solidFill>
            <a:prstDash val="solid"/>
          </a:ln>
        </p:spPr>
        <p:txBody>
          <a:bodyPr/>
          <a:lstStyle/>
          <a:p>
            <a:endParaRPr lang="en-US"/>
          </a:p>
        </p:txBody>
      </p:sp>
      <p:sp>
        <p:nvSpPr>
          <p:cNvPr id="8" name="Text 5"/>
          <p:cNvSpPr/>
          <p:nvPr/>
        </p:nvSpPr>
        <p:spPr>
          <a:xfrm>
            <a:off x="7090766" y="4575347"/>
            <a:ext cx="178594" cy="223242"/>
          </a:xfrm>
          <a:prstGeom prst="rect">
            <a:avLst/>
          </a:prstGeom>
          <a:noFill/>
          <a:ln/>
        </p:spPr>
        <p:txBody>
          <a:bodyPr wrap="none" lIns="0" tIns="0" rIns="0" bIns="0" rtlCol="0" anchor="t"/>
          <a:lstStyle/>
          <a:p>
            <a:pPr marL="0" indent="0" algn="ctr">
              <a:lnSpc>
                <a:spcPts val="1400"/>
              </a:lnSpc>
              <a:buNone/>
            </a:pPr>
            <a:r>
              <a:rPr lang="en-US" sz="1400" b="1" dirty="0">
                <a:solidFill>
                  <a:srgbClr val="272525"/>
                </a:solidFill>
                <a:latin typeface="Petrona Bold" pitchFamily="34" charset="0"/>
                <a:ea typeface="Petrona Bold" pitchFamily="34" charset="-122"/>
                <a:cs typeface="Petrona Bold" pitchFamily="34" charset="-120"/>
              </a:rPr>
              <a:t>1</a:t>
            </a:r>
            <a:endParaRPr lang="en-US" sz="1400" dirty="0"/>
          </a:p>
        </p:txBody>
      </p:sp>
      <p:sp>
        <p:nvSpPr>
          <p:cNvPr id="9" name="Text 6"/>
          <p:cNvSpPr/>
          <p:nvPr/>
        </p:nvSpPr>
        <p:spPr>
          <a:xfrm>
            <a:off x="5185615" y="4593980"/>
            <a:ext cx="1488519" cy="185976"/>
          </a:xfrm>
          <a:prstGeom prst="rect">
            <a:avLst/>
          </a:prstGeom>
          <a:noFill/>
          <a:ln/>
        </p:spPr>
        <p:txBody>
          <a:bodyPr wrap="none" lIns="0" tIns="0" rIns="0" bIns="0" rtlCol="0" anchor="t"/>
          <a:lstStyle/>
          <a:p>
            <a:pPr marL="0" indent="0" algn="r">
              <a:lnSpc>
                <a:spcPts val="1450"/>
              </a:lnSpc>
              <a:buNone/>
            </a:pPr>
            <a:r>
              <a:rPr lang="en-US" sz="1200" b="1" dirty="0">
                <a:solidFill>
                  <a:srgbClr val="272525"/>
                </a:solidFill>
                <a:latin typeface="Petrona Bold" pitchFamily="34" charset="0"/>
                <a:ea typeface="Petrona Bold" pitchFamily="34" charset="-122"/>
                <a:cs typeface="Petrona Bold" pitchFamily="34" charset="-120"/>
              </a:rPr>
              <a:t>Jan</a:t>
            </a:r>
            <a:r>
              <a:rPr lang="en-US" sz="1150" b="1" dirty="0">
                <a:solidFill>
                  <a:srgbClr val="272525"/>
                </a:solidFill>
                <a:latin typeface="Petrona Bold" pitchFamily="34" charset="0"/>
                <a:ea typeface="Petrona Bold" pitchFamily="34" charset="-122"/>
                <a:cs typeface="Petrona Bold" pitchFamily="34" charset="-120"/>
              </a:rPr>
              <a:t>–Mar</a:t>
            </a:r>
            <a:endParaRPr lang="en-US" sz="1150" dirty="0"/>
          </a:p>
        </p:txBody>
      </p:sp>
      <p:sp>
        <p:nvSpPr>
          <p:cNvPr id="10" name="Text 7"/>
          <p:cNvSpPr/>
          <p:nvPr/>
        </p:nvSpPr>
        <p:spPr>
          <a:xfrm>
            <a:off x="322745" y="4763291"/>
            <a:ext cx="6351389" cy="181451"/>
          </a:xfrm>
          <a:prstGeom prst="rect">
            <a:avLst/>
          </a:prstGeom>
          <a:noFill/>
          <a:ln/>
        </p:spPr>
        <p:txBody>
          <a:bodyPr wrap="none" lIns="0" tIns="0" rIns="0" bIns="0" rtlCol="0" anchor="t"/>
          <a:lstStyle/>
          <a:p>
            <a:pPr marL="0" indent="0" algn="r">
              <a:lnSpc>
                <a:spcPts val="1400"/>
              </a:lnSpc>
              <a:buNone/>
            </a:pPr>
            <a:r>
              <a:rPr lang="en-US" sz="1200" dirty="0">
                <a:solidFill>
                  <a:srgbClr val="272525"/>
                </a:solidFill>
                <a:latin typeface="Inter" pitchFamily="34" charset="0"/>
                <a:ea typeface="Inter" pitchFamily="34" charset="-122"/>
                <a:cs typeface="Inter" pitchFamily="34" charset="-120"/>
              </a:rPr>
              <a:t>Gradual recovery from winter lows as weather improves</a:t>
            </a:r>
            <a:endParaRPr lang="en-US" sz="1200" dirty="0"/>
          </a:p>
        </p:txBody>
      </p:sp>
      <p:sp>
        <p:nvSpPr>
          <p:cNvPr id="11" name="Shape 8"/>
          <p:cNvSpPr/>
          <p:nvPr/>
        </p:nvSpPr>
        <p:spPr>
          <a:xfrm>
            <a:off x="7292457" y="5359791"/>
            <a:ext cx="340162" cy="15240"/>
          </a:xfrm>
          <a:prstGeom prst="roundRect">
            <a:avLst>
              <a:gd name="adj" fmla="val 312558"/>
            </a:avLst>
          </a:prstGeom>
          <a:solidFill>
            <a:srgbClr val="B2D4E5"/>
          </a:solidFill>
          <a:ln/>
        </p:spPr>
        <p:txBody>
          <a:bodyPr/>
          <a:lstStyle/>
          <a:p>
            <a:endParaRPr lang="en-US"/>
          </a:p>
        </p:txBody>
      </p:sp>
      <p:sp>
        <p:nvSpPr>
          <p:cNvPr id="12" name="Shape 9"/>
          <p:cNvSpPr/>
          <p:nvPr/>
        </p:nvSpPr>
        <p:spPr>
          <a:xfrm>
            <a:off x="7052547" y="5239895"/>
            <a:ext cx="255151" cy="255151"/>
          </a:xfrm>
          <a:prstGeom prst="roundRect">
            <a:avLst>
              <a:gd name="adj" fmla="val 18669"/>
            </a:avLst>
          </a:prstGeom>
          <a:solidFill>
            <a:srgbClr val="CCEEFF"/>
          </a:solidFill>
          <a:ln w="7620">
            <a:solidFill>
              <a:srgbClr val="B2D4E5"/>
            </a:solidFill>
            <a:prstDash val="solid"/>
          </a:ln>
        </p:spPr>
        <p:txBody>
          <a:bodyPr/>
          <a:lstStyle/>
          <a:p>
            <a:endParaRPr lang="en-US"/>
          </a:p>
        </p:txBody>
      </p:sp>
      <p:sp>
        <p:nvSpPr>
          <p:cNvPr id="13" name="Text 10"/>
          <p:cNvSpPr/>
          <p:nvPr/>
        </p:nvSpPr>
        <p:spPr>
          <a:xfrm>
            <a:off x="7090766" y="5255790"/>
            <a:ext cx="178594" cy="223242"/>
          </a:xfrm>
          <a:prstGeom prst="rect">
            <a:avLst/>
          </a:prstGeom>
          <a:noFill/>
          <a:ln/>
        </p:spPr>
        <p:txBody>
          <a:bodyPr wrap="none" lIns="0" tIns="0" rIns="0" bIns="0" rtlCol="0" anchor="t"/>
          <a:lstStyle/>
          <a:p>
            <a:pPr marL="0" indent="0" algn="ctr">
              <a:lnSpc>
                <a:spcPts val="1400"/>
              </a:lnSpc>
              <a:buNone/>
            </a:pPr>
            <a:r>
              <a:rPr lang="en-US" sz="1400" b="1" dirty="0">
                <a:solidFill>
                  <a:srgbClr val="272525"/>
                </a:solidFill>
                <a:latin typeface="Petrona Bold" pitchFamily="34" charset="0"/>
                <a:ea typeface="Petrona Bold" pitchFamily="34" charset="-122"/>
                <a:cs typeface="Petrona Bold" pitchFamily="34" charset="-120"/>
              </a:rPr>
              <a:t>2</a:t>
            </a:r>
            <a:endParaRPr lang="en-US" sz="1400" dirty="0"/>
          </a:p>
        </p:txBody>
      </p:sp>
      <p:sp>
        <p:nvSpPr>
          <p:cNvPr id="14" name="Text 11"/>
          <p:cNvSpPr/>
          <p:nvPr/>
        </p:nvSpPr>
        <p:spPr>
          <a:xfrm>
            <a:off x="7708879" y="5293056"/>
            <a:ext cx="1488519" cy="193012"/>
          </a:xfrm>
          <a:prstGeom prst="rect">
            <a:avLst/>
          </a:prstGeom>
          <a:noFill/>
          <a:ln/>
        </p:spPr>
        <p:txBody>
          <a:bodyPr wrap="none" lIns="0" tIns="0" rIns="0" bIns="0" rtlCol="0" anchor="t"/>
          <a:lstStyle/>
          <a:p>
            <a:pPr marL="0" indent="0" algn="l">
              <a:lnSpc>
                <a:spcPts val="1450"/>
              </a:lnSpc>
              <a:buNone/>
            </a:pPr>
            <a:r>
              <a:rPr lang="en-US" sz="1200" b="1" dirty="0">
                <a:solidFill>
                  <a:srgbClr val="272525"/>
                </a:solidFill>
                <a:latin typeface="Petrona Bold" pitchFamily="34" charset="0"/>
                <a:ea typeface="Petrona Bold" pitchFamily="34" charset="-122"/>
                <a:cs typeface="Petrona Bold" pitchFamily="34" charset="-120"/>
              </a:rPr>
              <a:t>Apr</a:t>
            </a:r>
            <a:r>
              <a:rPr lang="en-US" sz="1150" b="1" dirty="0">
                <a:solidFill>
                  <a:srgbClr val="272525"/>
                </a:solidFill>
                <a:latin typeface="Petrona Bold" pitchFamily="34" charset="0"/>
                <a:ea typeface="Petrona Bold" pitchFamily="34" charset="-122"/>
                <a:cs typeface="Petrona Bold" pitchFamily="34" charset="-120"/>
              </a:rPr>
              <a:t>–May</a:t>
            </a:r>
            <a:endParaRPr lang="en-US" sz="1150" dirty="0"/>
          </a:p>
        </p:txBody>
      </p:sp>
      <p:sp>
        <p:nvSpPr>
          <p:cNvPr id="15" name="Text 12"/>
          <p:cNvSpPr/>
          <p:nvPr/>
        </p:nvSpPr>
        <p:spPr>
          <a:xfrm>
            <a:off x="7708879" y="5521418"/>
            <a:ext cx="6351389" cy="181451"/>
          </a:xfrm>
          <a:prstGeom prst="rect">
            <a:avLst/>
          </a:prstGeom>
          <a:noFill/>
          <a:ln/>
        </p:spPr>
        <p:txBody>
          <a:bodyPr wrap="none" lIns="0" tIns="0" rIns="0" bIns="0" rtlCol="0" anchor="t"/>
          <a:lstStyle/>
          <a:p>
            <a:pPr marL="0" indent="0" algn="l">
              <a:lnSpc>
                <a:spcPts val="1400"/>
              </a:lnSpc>
              <a:buNone/>
            </a:pPr>
            <a:r>
              <a:rPr lang="en-US" sz="1200" dirty="0">
                <a:solidFill>
                  <a:srgbClr val="272525"/>
                </a:solidFill>
                <a:latin typeface="Inter" pitchFamily="34" charset="0"/>
                <a:ea typeface="Inter" pitchFamily="34" charset="-122"/>
                <a:cs typeface="Inter" pitchFamily="34" charset="-120"/>
              </a:rPr>
              <a:t>Spring acceleration with rising tourist and commuter activity</a:t>
            </a:r>
            <a:endParaRPr lang="en-US" sz="1200" dirty="0"/>
          </a:p>
        </p:txBody>
      </p:sp>
      <p:sp>
        <p:nvSpPr>
          <p:cNvPr id="16" name="Shape 13"/>
          <p:cNvSpPr/>
          <p:nvPr/>
        </p:nvSpPr>
        <p:spPr>
          <a:xfrm>
            <a:off x="6727625" y="5946293"/>
            <a:ext cx="340162" cy="15240"/>
          </a:xfrm>
          <a:prstGeom prst="roundRect">
            <a:avLst>
              <a:gd name="adj" fmla="val 312558"/>
            </a:avLst>
          </a:prstGeom>
          <a:solidFill>
            <a:srgbClr val="B2D4E5"/>
          </a:solidFill>
          <a:ln/>
        </p:spPr>
        <p:txBody>
          <a:bodyPr/>
          <a:lstStyle/>
          <a:p>
            <a:endParaRPr lang="en-US"/>
          </a:p>
        </p:txBody>
      </p:sp>
      <p:sp>
        <p:nvSpPr>
          <p:cNvPr id="17" name="Shape 14"/>
          <p:cNvSpPr/>
          <p:nvPr/>
        </p:nvSpPr>
        <p:spPr>
          <a:xfrm>
            <a:off x="7052547" y="5826397"/>
            <a:ext cx="255151" cy="255151"/>
          </a:xfrm>
          <a:prstGeom prst="roundRect">
            <a:avLst>
              <a:gd name="adj" fmla="val 18669"/>
            </a:avLst>
          </a:prstGeom>
          <a:solidFill>
            <a:srgbClr val="CCEEFF"/>
          </a:solidFill>
          <a:ln w="7620">
            <a:solidFill>
              <a:srgbClr val="B2D4E5"/>
            </a:solidFill>
            <a:prstDash val="solid"/>
          </a:ln>
        </p:spPr>
        <p:txBody>
          <a:bodyPr/>
          <a:lstStyle/>
          <a:p>
            <a:endParaRPr lang="en-US"/>
          </a:p>
        </p:txBody>
      </p:sp>
      <p:sp>
        <p:nvSpPr>
          <p:cNvPr id="18" name="Text 15"/>
          <p:cNvSpPr/>
          <p:nvPr/>
        </p:nvSpPr>
        <p:spPr>
          <a:xfrm>
            <a:off x="7090766" y="5842292"/>
            <a:ext cx="178594" cy="223242"/>
          </a:xfrm>
          <a:prstGeom prst="rect">
            <a:avLst/>
          </a:prstGeom>
          <a:noFill/>
          <a:ln/>
        </p:spPr>
        <p:txBody>
          <a:bodyPr wrap="none" lIns="0" tIns="0" rIns="0" bIns="0" rtlCol="0" anchor="t"/>
          <a:lstStyle/>
          <a:p>
            <a:pPr marL="0" indent="0" algn="ctr">
              <a:lnSpc>
                <a:spcPts val="1400"/>
              </a:lnSpc>
              <a:buNone/>
            </a:pPr>
            <a:r>
              <a:rPr lang="en-US" sz="1400" b="1" dirty="0">
                <a:solidFill>
                  <a:srgbClr val="272525"/>
                </a:solidFill>
                <a:latin typeface="Petrona Bold" pitchFamily="34" charset="0"/>
                <a:ea typeface="Petrona Bold" pitchFamily="34" charset="-122"/>
                <a:cs typeface="Petrona Bold" pitchFamily="34" charset="-120"/>
              </a:rPr>
              <a:t>3</a:t>
            </a:r>
            <a:endParaRPr lang="en-US" sz="1400" dirty="0"/>
          </a:p>
        </p:txBody>
      </p:sp>
      <p:sp>
        <p:nvSpPr>
          <p:cNvPr id="19" name="Text 16"/>
          <p:cNvSpPr/>
          <p:nvPr/>
        </p:nvSpPr>
        <p:spPr>
          <a:xfrm>
            <a:off x="5162847" y="5842292"/>
            <a:ext cx="1488519" cy="185976"/>
          </a:xfrm>
          <a:prstGeom prst="rect">
            <a:avLst/>
          </a:prstGeom>
          <a:noFill/>
          <a:ln/>
        </p:spPr>
        <p:txBody>
          <a:bodyPr wrap="none" lIns="0" tIns="0" rIns="0" bIns="0" rtlCol="0" anchor="t"/>
          <a:lstStyle/>
          <a:p>
            <a:pPr marL="0" indent="0" algn="r">
              <a:lnSpc>
                <a:spcPts val="1450"/>
              </a:lnSpc>
              <a:buNone/>
            </a:pPr>
            <a:r>
              <a:rPr lang="en-US" sz="1150" b="1" dirty="0">
                <a:solidFill>
                  <a:srgbClr val="272525"/>
                </a:solidFill>
                <a:latin typeface="Petrona Bold" pitchFamily="34" charset="0"/>
                <a:ea typeface="Petrona Bold" pitchFamily="34" charset="-122"/>
                <a:cs typeface="Petrona Bold" pitchFamily="34" charset="-120"/>
              </a:rPr>
              <a:t>Jun–Aug</a:t>
            </a:r>
            <a:endParaRPr lang="en-US" sz="1150" dirty="0"/>
          </a:p>
        </p:txBody>
      </p:sp>
      <p:sp>
        <p:nvSpPr>
          <p:cNvPr id="20" name="Text 17"/>
          <p:cNvSpPr/>
          <p:nvPr/>
        </p:nvSpPr>
        <p:spPr>
          <a:xfrm>
            <a:off x="299976" y="6066400"/>
            <a:ext cx="6351389" cy="181451"/>
          </a:xfrm>
          <a:prstGeom prst="rect">
            <a:avLst/>
          </a:prstGeom>
          <a:noFill/>
          <a:ln/>
        </p:spPr>
        <p:txBody>
          <a:bodyPr wrap="none" lIns="0" tIns="0" rIns="0" bIns="0" rtlCol="0" anchor="t"/>
          <a:lstStyle/>
          <a:p>
            <a:pPr marL="0" indent="0" algn="r">
              <a:lnSpc>
                <a:spcPts val="1400"/>
              </a:lnSpc>
              <a:buNone/>
            </a:pPr>
            <a:r>
              <a:rPr lang="en-US" sz="1200" dirty="0">
                <a:solidFill>
                  <a:srgbClr val="272525"/>
                </a:solidFill>
                <a:latin typeface="Inter" pitchFamily="34" charset="0"/>
                <a:ea typeface="Inter" pitchFamily="34" charset="-122"/>
                <a:cs typeface="Inter" pitchFamily="34" charset="-120"/>
              </a:rPr>
              <a:t>Peak summer demand with August reaching highest volumes</a:t>
            </a:r>
            <a:endParaRPr lang="en-US" sz="1200" dirty="0"/>
          </a:p>
        </p:txBody>
      </p:sp>
      <p:sp>
        <p:nvSpPr>
          <p:cNvPr id="21" name="Shape 18"/>
          <p:cNvSpPr/>
          <p:nvPr/>
        </p:nvSpPr>
        <p:spPr>
          <a:xfrm>
            <a:off x="7292457" y="6532795"/>
            <a:ext cx="340162" cy="15240"/>
          </a:xfrm>
          <a:prstGeom prst="roundRect">
            <a:avLst>
              <a:gd name="adj" fmla="val 312558"/>
            </a:avLst>
          </a:prstGeom>
          <a:solidFill>
            <a:srgbClr val="B2D4E5"/>
          </a:solidFill>
          <a:ln/>
        </p:spPr>
        <p:txBody>
          <a:bodyPr/>
          <a:lstStyle/>
          <a:p>
            <a:endParaRPr lang="en-US"/>
          </a:p>
        </p:txBody>
      </p:sp>
      <p:sp>
        <p:nvSpPr>
          <p:cNvPr id="22" name="Shape 19"/>
          <p:cNvSpPr/>
          <p:nvPr/>
        </p:nvSpPr>
        <p:spPr>
          <a:xfrm>
            <a:off x="7052547" y="6412899"/>
            <a:ext cx="255151" cy="255151"/>
          </a:xfrm>
          <a:prstGeom prst="roundRect">
            <a:avLst>
              <a:gd name="adj" fmla="val 18669"/>
            </a:avLst>
          </a:prstGeom>
          <a:solidFill>
            <a:srgbClr val="CCEEFF"/>
          </a:solidFill>
          <a:ln w="7620">
            <a:solidFill>
              <a:srgbClr val="B2D4E5"/>
            </a:solidFill>
            <a:prstDash val="solid"/>
          </a:ln>
        </p:spPr>
        <p:txBody>
          <a:bodyPr/>
          <a:lstStyle/>
          <a:p>
            <a:endParaRPr lang="en-US"/>
          </a:p>
        </p:txBody>
      </p:sp>
      <p:sp>
        <p:nvSpPr>
          <p:cNvPr id="23" name="Text 20"/>
          <p:cNvSpPr/>
          <p:nvPr/>
        </p:nvSpPr>
        <p:spPr>
          <a:xfrm>
            <a:off x="7090766" y="6428793"/>
            <a:ext cx="178594" cy="223242"/>
          </a:xfrm>
          <a:prstGeom prst="rect">
            <a:avLst/>
          </a:prstGeom>
          <a:noFill/>
          <a:ln/>
        </p:spPr>
        <p:txBody>
          <a:bodyPr wrap="none" lIns="0" tIns="0" rIns="0" bIns="0" rtlCol="0" anchor="t"/>
          <a:lstStyle/>
          <a:p>
            <a:pPr marL="0" indent="0" algn="ctr">
              <a:lnSpc>
                <a:spcPts val="1400"/>
              </a:lnSpc>
              <a:buNone/>
            </a:pPr>
            <a:r>
              <a:rPr lang="en-US" sz="1400" b="1" dirty="0">
                <a:solidFill>
                  <a:srgbClr val="272525"/>
                </a:solidFill>
                <a:latin typeface="Petrona Bold" pitchFamily="34" charset="0"/>
                <a:ea typeface="Petrona Bold" pitchFamily="34" charset="-122"/>
                <a:cs typeface="Petrona Bold" pitchFamily="34" charset="-120"/>
              </a:rPr>
              <a:t>4</a:t>
            </a:r>
            <a:endParaRPr lang="en-US" sz="1400" dirty="0"/>
          </a:p>
        </p:txBody>
      </p:sp>
      <p:sp>
        <p:nvSpPr>
          <p:cNvPr id="24" name="Text 21"/>
          <p:cNvSpPr/>
          <p:nvPr/>
        </p:nvSpPr>
        <p:spPr>
          <a:xfrm>
            <a:off x="7708879" y="6447426"/>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Sep–Oct</a:t>
            </a:r>
            <a:endParaRPr lang="en-US" sz="1150" dirty="0"/>
          </a:p>
        </p:txBody>
      </p:sp>
      <p:sp>
        <p:nvSpPr>
          <p:cNvPr id="25" name="Text 22"/>
          <p:cNvSpPr/>
          <p:nvPr/>
        </p:nvSpPr>
        <p:spPr>
          <a:xfrm>
            <a:off x="7695961" y="6668050"/>
            <a:ext cx="6351389" cy="181451"/>
          </a:xfrm>
          <a:prstGeom prst="rect">
            <a:avLst/>
          </a:prstGeom>
          <a:noFill/>
          <a:ln/>
        </p:spPr>
        <p:txBody>
          <a:bodyPr wrap="none" lIns="0" tIns="0" rIns="0" bIns="0" rtlCol="0" anchor="t"/>
          <a:lstStyle/>
          <a:p>
            <a:pPr marL="0" indent="0" algn="l">
              <a:lnSpc>
                <a:spcPts val="1400"/>
              </a:lnSpc>
              <a:buNone/>
            </a:pPr>
            <a:r>
              <a:rPr lang="en-US" sz="1200" dirty="0">
                <a:solidFill>
                  <a:srgbClr val="272525"/>
                </a:solidFill>
                <a:latin typeface="Inter" pitchFamily="34" charset="0"/>
                <a:ea typeface="Inter" pitchFamily="34" charset="-122"/>
                <a:cs typeface="Inter" pitchFamily="34" charset="-120"/>
              </a:rPr>
              <a:t>Sustained high demand with minor September dip</a:t>
            </a:r>
            <a:endParaRPr lang="en-US" sz="1200" dirty="0"/>
          </a:p>
        </p:txBody>
      </p:sp>
      <p:sp>
        <p:nvSpPr>
          <p:cNvPr id="26" name="Shape 23"/>
          <p:cNvSpPr/>
          <p:nvPr/>
        </p:nvSpPr>
        <p:spPr>
          <a:xfrm>
            <a:off x="6727625" y="7119296"/>
            <a:ext cx="340162" cy="15240"/>
          </a:xfrm>
          <a:prstGeom prst="roundRect">
            <a:avLst>
              <a:gd name="adj" fmla="val 312558"/>
            </a:avLst>
          </a:prstGeom>
          <a:solidFill>
            <a:srgbClr val="B2D4E5"/>
          </a:solidFill>
          <a:ln/>
        </p:spPr>
        <p:txBody>
          <a:bodyPr/>
          <a:lstStyle/>
          <a:p>
            <a:endParaRPr lang="en-US"/>
          </a:p>
        </p:txBody>
      </p:sp>
      <p:sp>
        <p:nvSpPr>
          <p:cNvPr id="27" name="Shape 24"/>
          <p:cNvSpPr/>
          <p:nvPr/>
        </p:nvSpPr>
        <p:spPr>
          <a:xfrm>
            <a:off x="7052547" y="6999400"/>
            <a:ext cx="255151" cy="255151"/>
          </a:xfrm>
          <a:prstGeom prst="roundRect">
            <a:avLst>
              <a:gd name="adj" fmla="val 18669"/>
            </a:avLst>
          </a:prstGeom>
          <a:solidFill>
            <a:srgbClr val="CCEEFF"/>
          </a:solidFill>
          <a:ln w="7620">
            <a:solidFill>
              <a:srgbClr val="B2D4E5"/>
            </a:solidFill>
            <a:prstDash val="solid"/>
          </a:ln>
        </p:spPr>
        <p:txBody>
          <a:bodyPr/>
          <a:lstStyle/>
          <a:p>
            <a:endParaRPr lang="en-US"/>
          </a:p>
        </p:txBody>
      </p:sp>
      <p:sp>
        <p:nvSpPr>
          <p:cNvPr id="28" name="Text 25"/>
          <p:cNvSpPr/>
          <p:nvPr/>
        </p:nvSpPr>
        <p:spPr>
          <a:xfrm>
            <a:off x="7090766" y="7015295"/>
            <a:ext cx="178594" cy="223242"/>
          </a:xfrm>
          <a:prstGeom prst="rect">
            <a:avLst/>
          </a:prstGeom>
          <a:noFill/>
          <a:ln/>
        </p:spPr>
        <p:txBody>
          <a:bodyPr wrap="none" lIns="0" tIns="0" rIns="0" bIns="0" rtlCol="0" anchor="t"/>
          <a:lstStyle/>
          <a:p>
            <a:pPr marL="0" indent="0" algn="ctr">
              <a:lnSpc>
                <a:spcPts val="1400"/>
              </a:lnSpc>
              <a:buNone/>
            </a:pPr>
            <a:r>
              <a:rPr lang="en-US" sz="1400" b="1" dirty="0">
                <a:solidFill>
                  <a:srgbClr val="272525"/>
                </a:solidFill>
                <a:latin typeface="Petrona Bold" pitchFamily="34" charset="0"/>
                <a:ea typeface="Petrona Bold" pitchFamily="34" charset="-122"/>
                <a:cs typeface="Petrona Bold" pitchFamily="34" charset="-120"/>
              </a:rPr>
              <a:t>5</a:t>
            </a:r>
            <a:endParaRPr lang="en-US" sz="1400" dirty="0"/>
          </a:p>
        </p:txBody>
      </p:sp>
      <p:sp>
        <p:nvSpPr>
          <p:cNvPr id="29" name="Text 26"/>
          <p:cNvSpPr/>
          <p:nvPr/>
        </p:nvSpPr>
        <p:spPr>
          <a:xfrm>
            <a:off x="5162847" y="7033928"/>
            <a:ext cx="1488519" cy="185976"/>
          </a:xfrm>
          <a:prstGeom prst="rect">
            <a:avLst/>
          </a:prstGeom>
          <a:noFill/>
          <a:ln/>
        </p:spPr>
        <p:txBody>
          <a:bodyPr wrap="none" lIns="0" tIns="0" rIns="0" bIns="0" rtlCol="0" anchor="t"/>
          <a:lstStyle/>
          <a:p>
            <a:pPr marL="0" indent="0" algn="r">
              <a:lnSpc>
                <a:spcPts val="1450"/>
              </a:lnSpc>
              <a:buNone/>
            </a:pPr>
            <a:r>
              <a:rPr lang="en-US" sz="1150" b="1" dirty="0">
                <a:solidFill>
                  <a:srgbClr val="272525"/>
                </a:solidFill>
                <a:latin typeface="Petrona Bold" pitchFamily="34" charset="0"/>
                <a:ea typeface="Petrona Bold" pitchFamily="34" charset="-122"/>
                <a:cs typeface="Petrona Bold" pitchFamily="34" charset="-120"/>
              </a:rPr>
              <a:t>Nov–Dec</a:t>
            </a:r>
            <a:endParaRPr lang="en-US" sz="1150" dirty="0"/>
          </a:p>
        </p:txBody>
      </p:sp>
      <p:sp>
        <p:nvSpPr>
          <p:cNvPr id="30" name="Text 27"/>
          <p:cNvSpPr/>
          <p:nvPr/>
        </p:nvSpPr>
        <p:spPr>
          <a:xfrm>
            <a:off x="322744" y="7253511"/>
            <a:ext cx="6351389" cy="181451"/>
          </a:xfrm>
          <a:prstGeom prst="rect">
            <a:avLst/>
          </a:prstGeom>
          <a:noFill/>
          <a:ln/>
        </p:spPr>
        <p:txBody>
          <a:bodyPr wrap="none" lIns="0" tIns="0" rIns="0" bIns="0" rtlCol="0" anchor="t"/>
          <a:lstStyle/>
          <a:p>
            <a:pPr marL="0" indent="0" algn="r">
              <a:lnSpc>
                <a:spcPts val="1400"/>
              </a:lnSpc>
              <a:buNone/>
            </a:pPr>
            <a:r>
              <a:rPr lang="en-US" sz="1200" dirty="0">
                <a:solidFill>
                  <a:srgbClr val="272525"/>
                </a:solidFill>
                <a:latin typeface="Inter" pitchFamily="34" charset="0"/>
                <a:ea typeface="Inter" pitchFamily="34" charset="-122"/>
                <a:cs typeface="Inter" pitchFamily="34" charset="-120"/>
              </a:rPr>
              <a:t>Year-end patterns (incomplete data limits full analysis</a:t>
            </a:r>
            <a:r>
              <a:rPr lang="en-US" sz="850" dirty="0">
                <a:solidFill>
                  <a:srgbClr val="272525"/>
                </a:solidFill>
                <a:latin typeface="Inter" pitchFamily="34" charset="0"/>
                <a:ea typeface="Inter" pitchFamily="34" charset="-122"/>
                <a:cs typeface="Inter" pitchFamily="34" charset="-120"/>
              </a:rPr>
              <a:t>)</a:t>
            </a:r>
            <a:endParaRPr lang="en-US" sz="850" dirty="0"/>
          </a:p>
        </p:txBody>
      </p:sp>
      <p:sp>
        <p:nvSpPr>
          <p:cNvPr id="31" name="Text 28"/>
          <p:cNvSpPr/>
          <p:nvPr/>
        </p:nvSpPr>
        <p:spPr>
          <a:xfrm>
            <a:off x="7128986" y="2562082"/>
            <a:ext cx="13836729" cy="181451"/>
          </a:xfrm>
          <a:prstGeom prst="rect">
            <a:avLst/>
          </a:prstGeom>
          <a:noFill/>
          <a:ln/>
        </p:spPr>
        <p:txBody>
          <a:bodyPr wrap="none" lIns="0" tIns="0" rIns="0" bIns="0" rtlCol="0" anchor="t"/>
          <a:lstStyle/>
          <a:p>
            <a:pPr marL="0" indent="0" algn="l">
              <a:lnSpc>
                <a:spcPts val="1400"/>
              </a:lnSpc>
              <a:buNone/>
            </a:pPr>
            <a:r>
              <a:rPr lang="en-US" dirty="0">
                <a:solidFill>
                  <a:srgbClr val="272525"/>
                </a:solidFill>
                <a:latin typeface="Inter" pitchFamily="34" charset="0"/>
                <a:ea typeface="Inter" pitchFamily="34" charset="-122"/>
                <a:cs typeface="Inter" pitchFamily="34" charset="-120"/>
              </a:rPr>
              <a:t>This seasonal pattern suggests fleet capacity and driver </a:t>
            </a:r>
          </a:p>
          <a:p>
            <a:pPr marL="0" indent="0" algn="l">
              <a:lnSpc>
                <a:spcPts val="1400"/>
              </a:lnSpc>
              <a:buNone/>
            </a:pPr>
            <a:endParaRPr lang="en-US" dirty="0">
              <a:solidFill>
                <a:srgbClr val="272525"/>
              </a:solidFill>
              <a:latin typeface="Inter" pitchFamily="34" charset="0"/>
              <a:ea typeface="Inter" pitchFamily="34" charset="-122"/>
              <a:cs typeface="Inter" pitchFamily="34" charset="-120"/>
            </a:endParaRPr>
          </a:p>
          <a:p>
            <a:pPr marL="0" indent="0" algn="l">
              <a:lnSpc>
                <a:spcPts val="1400"/>
              </a:lnSpc>
              <a:buNone/>
            </a:pPr>
            <a:r>
              <a:rPr lang="en-US" dirty="0">
                <a:solidFill>
                  <a:srgbClr val="272525"/>
                </a:solidFill>
                <a:latin typeface="Inter" pitchFamily="34" charset="0"/>
                <a:ea typeface="Inter" pitchFamily="34" charset="-122"/>
                <a:cs typeface="Inter" pitchFamily="34" charset="-120"/>
              </a:rPr>
              <a:t>scheduling should be optimised for summer months,</a:t>
            </a:r>
          </a:p>
          <a:p>
            <a:pPr marL="0" indent="0" algn="l">
              <a:lnSpc>
                <a:spcPts val="1400"/>
              </a:lnSpc>
              <a:buNone/>
            </a:pPr>
            <a:r>
              <a:rPr lang="en-US" dirty="0">
                <a:solidFill>
                  <a:srgbClr val="272525"/>
                </a:solidFill>
                <a:latin typeface="Inter" pitchFamily="34" charset="0"/>
                <a:ea typeface="Inter" pitchFamily="34" charset="-122"/>
                <a:cs typeface="Inter" pitchFamily="34" charset="-120"/>
              </a:rPr>
              <a:t> </a:t>
            </a:r>
          </a:p>
          <a:p>
            <a:pPr marL="0" indent="0" algn="l">
              <a:lnSpc>
                <a:spcPts val="1400"/>
              </a:lnSpc>
              <a:buNone/>
            </a:pPr>
            <a:r>
              <a:rPr lang="en-US" dirty="0">
                <a:solidFill>
                  <a:srgbClr val="272525"/>
                </a:solidFill>
                <a:latin typeface="Inter" pitchFamily="34" charset="0"/>
                <a:ea typeface="Inter" pitchFamily="34" charset="-122"/>
                <a:cs typeface="Inter" pitchFamily="34" charset="-120"/>
              </a:rPr>
              <a:t>with August requiring maximum resource allocation </a:t>
            </a:r>
          </a:p>
          <a:p>
            <a:pPr marL="0" indent="0" algn="l">
              <a:lnSpc>
                <a:spcPts val="1400"/>
              </a:lnSpc>
              <a:buNone/>
            </a:pPr>
            <a:endParaRPr lang="en-US" dirty="0">
              <a:solidFill>
                <a:srgbClr val="272525"/>
              </a:solidFill>
              <a:latin typeface="Inter" pitchFamily="34" charset="0"/>
              <a:ea typeface="Inter" pitchFamily="34" charset="-122"/>
              <a:cs typeface="Inter" pitchFamily="34" charset="-120"/>
            </a:endParaRPr>
          </a:p>
          <a:p>
            <a:pPr marL="0" indent="0" algn="l">
              <a:lnSpc>
                <a:spcPts val="1400"/>
              </a:lnSpc>
              <a:buNone/>
            </a:pPr>
            <a:r>
              <a:rPr lang="en-US" dirty="0">
                <a:solidFill>
                  <a:srgbClr val="272525"/>
                </a:solidFill>
                <a:latin typeface="Inter" pitchFamily="34" charset="0"/>
                <a:ea typeface="Inter" pitchFamily="34" charset="-122"/>
                <a:cs typeface="Inter" pitchFamily="34" charset="-120"/>
              </a:rPr>
              <a:t>to meet peak demand effectively.</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66882" y="818912"/>
            <a:ext cx="9710142" cy="718899"/>
          </a:xfrm>
          <a:prstGeom prst="rect">
            <a:avLst/>
          </a:prstGeom>
          <a:noFill/>
          <a:ln/>
        </p:spPr>
        <p:txBody>
          <a:bodyPr wrap="none" lIns="0" tIns="0" rIns="0" bIns="0" rtlCol="0" anchor="t"/>
          <a:lstStyle/>
          <a:p>
            <a:pPr marL="0" indent="0" algn="l">
              <a:lnSpc>
                <a:spcPts val="5650"/>
              </a:lnSpc>
              <a:buNone/>
            </a:pPr>
            <a:r>
              <a:rPr lang="en-US" sz="4500" b="1" dirty="0">
                <a:solidFill>
                  <a:srgbClr val="000000"/>
                </a:solidFill>
                <a:latin typeface="Petrona Bold" pitchFamily="34" charset="0"/>
                <a:ea typeface="Petrona Bold" pitchFamily="34" charset="-122"/>
                <a:cs typeface="Petrona Bold" pitchFamily="34" charset="-120"/>
              </a:rPr>
              <a:t>Top 3 Revenue Optimisation Insights</a:t>
            </a:r>
            <a:endParaRPr lang="en-US" sz="4500" dirty="0"/>
          </a:p>
        </p:txBody>
      </p:sp>
      <p:sp>
        <p:nvSpPr>
          <p:cNvPr id="3" name="Shape 1"/>
          <p:cNvSpPr/>
          <p:nvPr/>
        </p:nvSpPr>
        <p:spPr>
          <a:xfrm>
            <a:off x="766882" y="1975961"/>
            <a:ext cx="4219456" cy="5434727"/>
          </a:xfrm>
          <a:prstGeom prst="roundRect">
            <a:avLst>
              <a:gd name="adj" fmla="val 2181"/>
            </a:avLst>
          </a:prstGeom>
          <a:solidFill>
            <a:srgbClr val="007EBD"/>
          </a:solidFill>
          <a:ln w="7620">
            <a:solidFill>
              <a:srgbClr val="1997D6"/>
            </a:solidFill>
            <a:prstDash val="solid"/>
          </a:ln>
        </p:spPr>
        <p:txBody>
          <a:bodyPr/>
          <a:lstStyle/>
          <a:p>
            <a:endParaRPr lang="en-US"/>
          </a:p>
        </p:txBody>
      </p:sp>
      <p:sp>
        <p:nvSpPr>
          <p:cNvPr id="4" name="Text 2"/>
          <p:cNvSpPr/>
          <p:nvPr/>
        </p:nvSpPr>
        <p:spPr>
          <a:xfrm>
            <a:off x="993577" y="2202656"/>
            <a:ext cx="3766066" cy="862727"/>
          </a:xfrm>
          <a:prstGeom prst="rect">
            <a:avLst/>
          </a:prstGeom>
          <a:noFill/>
          <a:ln/>
        </p:spPr>
        <p:txBody>
          <a:bodyPr wrap="square" lIns="0" tIns="0" rIns="0" bIns="0" rtlCol="0" anchor="t"/>
          <a:lstStyle/>
          <a:p>
            <a:pPr marL="0" indent="0" algn="l">
              <a:lnSpc>
                <a:spcPts val="3350"/>
              </a:lnSpc>
              <a:buNone/>
            </a:pPr>
            <a:r>
              <a:rPr lang="en-US" sz="2700" b="1" dirty="0">
                <a:solidFill>
                  <a:srgbClr val="FFFFFF"/>
                </a:solidFill>
                <a:latin typeface="Petrona Bold" pitchFamily="34" charset="0"/>
                <a:ea typeface="Petrona Bold" pitchFamily="34" charset="-122"/>
                <a:cs typeface="Petrona Bold" pitchFamily="34" charset="-120"/>
              </a:rPr>
              <a:t>1. Prioritise Manhattan-Bound Trips</a:t>
            </a:r>
            <a:endParaRPr lang="en-US" sz="2700" dirty="0"/>
          </a:p>
        </p:txBody>
      </p:sp>
      <p:sp>
        <p:nvSpPr>
          <p:cNvPr id="5" name="Text 3"/>
          <p:cNvSpPr/>
          <p:nvPr/>
        </p:nvSpPr>
        <p:spPr>
          <a:xfrm>
            <a:off x="993577" y="3196828"/>
            <a:ext cx="3766066" cy="1752600"/>
          </a:xfrm>
          <a:prstGeom prst="rect">
            <a:avLst/>
          </a:prstGeom>
          <a:noFill/>
          <a:ln/>
        </p:spPr>
        <p:txBody>
          <a:bodyPr wrap="square" lIns="0" tIns="0" rIns="0" bIns="0" rtlCol="0" anchor="t"/>
          <a:lstStyle/>
          <a:p>
            <a:pPr marL="0" indent="0" algn="l">
              <a:lnSpc>
                <a:spcPts val="2750"/>
              </a:lnSpc>
              <a:buNone/>
            </a:pPr>
            <a:r>
              <a:rPr lang="en-US" sz="1700" dirty="0">
                <a:solidFill>
                  <a:srgbClr val="FFFFFF"/>
                </a:solidFill>
                <a:latin typeface="Inter" pitchFamily="34" charset="0"/>
                <a:ea typeface="Inter" pitchFamily="34" charset="-122"/>
                <a:cs typeface="Inter" pitchFamily="34" charset="-120"/>
              </a:rPr>
              <a:t>Most revenue comes from Staten Island trips going into Manhattan. These long, high-value journeys should be prioritised when allocating driver availability.</a:t>
            </a:r>
            <a:endParaRPr lang="en-US" sz="1700" dirty="0"/>
          </a:p>
        </p:txBody>
      </p:sp>
      <p:sp>
        <p:nvSpPr>
          <p:cNvPr id="6" name="Text 4"/>
          <p:cNvSpPr/>
          <p:nvPr/>
        </p:nvSpPr>
        <p:spPr>
          <a:xfrm>
            <a:off x="993577" y="5080873"/>
            <a:ext cx="3766066" cy="2103120"/>
          </a:xfrm>
          <a:prstGeom prst="rect">
            <a:avLst/>
          </a:prstGeom>
          <a:noFill/>
          <a:ln/>
        </p:spPr>
        <p:txBody>
          <a:bodyPr wrap="square" lIns="0" tIns="0" rIns="0" bIns="0" rtlCol="0" anchor="t"/>
          <a:lstStyle/>
          <a:p>
            <a:pPr marL="0" indent="0" algn="l">
              <a:lnSpc>
                <a:spcPts val="2750"/>
              </a:lnSpc>
              <a:buNone/>
            </a:pPr>
            <a:r>
              <a:rPr lang="en-US" sz="1700" dirty="0">
                <a:solidFill>
                  <a:srgbClr val="FFFFFF"/>
                </a:solidFill>
                <a:latin typeface="Inter" pitchFamily="34" charset="0"/>
                <a:ea typeface="Inter" pitchFamily="34" charset="-122"/>
                <a:cs typeface="Inter" pitchFamily="34" charset="-120"/>
              </a:rPr>
              <a:t>Once drivers arrive in Manhattan — the borough with the highest revenue potential — their opportunities for additional fares increase substantially, creating a multiplier effect on earnings.</a:t>
            </a:r>
            <a:endParaRPr lang="en-US" sz="1700" dirty="0"/>
          </a:p>
        </p:txBody>
      </p:sp>
      <p:sp>
        <p:nvSpPr>
          <p:cNvPr id="7" name="Shape 5"/>
          <p:cNvSpPr/>
          <p:nvPr/>
        </p:nvSpPr>
        <p:spPr>
          <a:xfrm>
            <a:off x="5205413" y="1975961"/>
            <a:ext cx="4219456" cy="5434727"/>
          </a:xfrm>
          <a:prstGeom prst="roundRect">
            <a:avLst>
              <a:gd name="adj" fmla="val 2181"/>
            </a:avLst>
          </a:prstGeom>
          <a:solidFill>
            <a:srgbClr val="007EBD"/>
          </a:solidFill>
          <a:ln w="7620">
            <a:solidFill>
              <a:srgbClr val="1997D6"/>
            </a:solidFill>
            <a:prstDash val="solid"/>
          </a:ln>
        </p:spPr>
        <p:txBody>
          <a:bodyPr/>
          <a:lstStyle/>
          <a:p>
            <a:endParaRPr lang="en-US"/>
          </a:p>
        </p:txBody>
      </p:sp>
      <p:sp>
        <p:nvSpPr>
          <p:cNvPr id="8" name="Text 6"/>
          <p:cNvSpPr/>
          <p:nvPr/>
        </p:nvSpPr>
        <p:spPr>
          <a:xfrm>
            <a:off x="5432108" y="2202656"/>
            <a:ext cx="3766066" cy="862727"/>
          </a:xfrm>
          <a:prstGeom prst="rect">
            <a:avLst/>
          </a:prstGeom>
          <a:noFill/>
          <a:ln/>
        </p:spPr>
        <p:txBody>
          <a:bodyPr wrap="square" lIns="0" tIns="0" rIns="0" bIns="0" rtlCol="0" anchor="t"/>
          <a:lstStyle/>
          <a:p>
            <a:pPr marL="0" indent="0" algn="l">
              <a:lnSpc>
                <a:spcPts val="3350"/>
              </a:lnSpc>
              <a:buNone/>
            </a:pPr>
            <a:r>
              <a:rPr lang="en-US" sz="2700" b="1" dirty="0">
                <a:solidFill>
                  <a:srgbClr val="FFFFFF"/>
                </a:solidFill>
                <a:latin typeface="Petrona Bold" pitchFamily="34" charset="0"/>
                <a:ea typeface="Petrona Bold" pitchFamily="34" charset="-122"/>
                <a:cs typeface="Petrona Bold" pitchFamily="34" charset="-120"/>
              </a:rPr>
              <a:t>2. Optimise for Summer Peak</a:t>
            </a:r>
            <a:endParaRPr lang="en-US" sz="2700" dirty="0"/>
          </a:p>
        </p:txBody>
      </p:sp>
      <p:sp>
        <p:nvSpPr>
          <p:cNvPr id="9" name="Text 7"/>
          <p:cNvSpPr/>
          <p:nvPr/>
        </p:nvSpPr>
        <p:spPr>
          <a:xfrm>
            <a:off x="5432108" y="3196828"/>
            <a:ext cx="3766066" cy="1402080"/>
          </a:xfrm>
          <a:prstGeom prst="rect">
            <a:avLst/>
          </a:prstGeom>
          <a:noFill/>
          <a:ln/>
        </p:spPr>
        <p:txBody>
          <a:bodyPr wrap="square" lIns="0" tIns="0" rIns="0" bIns="0" rtlCol="0" anchor="t"/>
          <a:lstStyle/>
          <a:p>
            <a:pPr marL="0" indent="0" algn="l">
              <a:lnSpc>
                <a:spcPts val="2750"/>
              </a:lnSpc>
              <a:buNone/>
            </a:pPr>
            <a:r>
              <a:rPr lang="en-US" sz="1700" dirty="0">
                <a:solidFill>
                  <a:srgbClr val="FFFFFF"/>
                </a:solidFill>
                <a:latin typeface="Inter" pitchFamily="34" charset="0"/>
                <a:ea typeface="Inter" pitchFamily="34" charset="-122"/>
                <a:cs typeface="Inter" pitchFamily="34" charset="-120"/>
              </a:rPr>
              <a:t>Summer (Q2), and potentially Autumn (Q3), are the strongest seasons for tipping and revenue generation.</a:t>
            </a:r>
            <a:endParaRPr lang="en-US" sz="1700" dirty="0"/>
          </a:p>
        </p:txBody>
      </p:sp>
      <p:sp>
        <p:nvSpPr>
          <p:cNvPr id="10" name="Text 8"/>
          <p:cNvSpPr/>
          <p:nvPr/>
        </p:nvSpPr>
        <p:spPr>
          <a:xfrm>
            <a:off x="5432108" y="4730353"/>
            <a:ext cx="3766066" cy="1752600"/>
          </a:xfrm>
          <a:prstGeom prst="rect">
            <a:avLst/>
          </a:prstGeom>
          <a:noFill/>
          <a:ln/>
        </p:spPr>
        <p:txBody>
          <a:bodyPr wrap="square" lIns="0" tIns="0" rIns="0" bIns="0" rtlCol="0" anchor="t"/>
          <a:lstStyle/>
          <a:p>
            <a:pPr marL="0" indent="0" algn="l">
              <a:lnSpc>
                <a:spcPts val="2750"/>
              </a:lnSpc>
              <a:buNone/>
            </a:pPr>
            <a:r>
              <a:rPr lang="en-US" sz="1700" dirty="0">
                <a:solidFill>
                  <a:srgbClr val="FFFFFF"/>
                </a:solidFill>
                <a:latin typeface="Inter" pitchFamily="34" charset="0"/>
                <a:ea typeface="Inter" pitchFamily="34" charset="-122"/>
                <a:cs typeface="Inter" pitchFamily="34" charset="-120"/>
              </a:rPr>
              <a:t>Shift patterns, pricing strategies, and fleet deployment should be optimised during these quarters to maximise earnings during peak demand periods.</a:t>
            </a:r>
            <a:endParaRPr lang="en-US" sz="1700" dirty="0"/>
          </a:p>
        </p:txBody>
      </p:sp>
      <p:sp>
        <p:nvSpPr>
          <p:cNvPr id="11" name="Shape 9"/>
          <p:cNvSpPr/>
          <p:nvPr/>
        </p:nvSpPr>
        <p:spPr>
          <a:xfrm>
            <a:off x="9643943" y="1975961"/>
            <a:ext cx="4219456" cy="5434727"/>
          </a:xfrm>
          <a:prstGeom prst="roundRect">
            <a:avLst>
              <a:gd name="adj" fmla="val 2181"/>
            </a:avLst>
          </a:prstGeom>
          <a:solidFill>
            <a:srgbClr val="007EBD"/>
          </a:solidFill>
          <a:ln w="7620">
            <a:solidFill>
              <a:srgbClr val="1997D6"/>
            </a:solidFill>
            <a:prstDash val="solid"/>
          </a:ln>
        </p:spPr>
        <p:txBody>
          <a:bodyPr/>
          <a:lstStyle/>
          <a:p>
            <a:endParaRPr lang="en-US"/>
          </a:p>
        </p:txBody>
      </p:sp>
      <p:sp>
        <p:nvSpPr>
          <p:cNvPr id="12" name="Text 10"/>
          <p:cNvSpPr/>
          <p:nvPr/>
        </p:nvSpPr>
        <p:spPr>
          <a:xfrm>
            <a:off x="9870638" y="2202656"/>
            <a:ext cx="3766066" cy="862727"/>
          </a:xfrm>
          <a:prstGeom prst="rect">
            <a:avLst/>
          </a:prstGeom>
          <a:noFill/>
          <a:ln/>
        </p:spPr>
        <p:txBody>
          <a:bodyPr wrap="square" lIns="0" tIns="0" rIns="0" bIns="0" rtlCol="0" anchor="t"/>
          <a:lstStyle/>
          <a:p>
            <a:pPr marL="0" indent="0" algn="l">
              <a:lnSpc>
                <a:spcPts val="3350"/>
              </a:lnSpc>
              <a:buNone/>
            </a:pPr>
            <a:r>
              <a:rPr lang="en-US" sz="2700" b="1" dirty="0">
                <a:solidFill>
                  <a:srgbClr val="FFFFFF"/>
                </a:solidFill>
                <a:latin typeface="Petrona Bold" pitchFamily="34" charset="0"/>
                <a:ea typeface="Petrona Bold" pitchFamily="34" charset="-122"/>
                <a:cs typeface="Petrona Bold" pitchFamily="34" charset="-120"/>
              </a:rPr>
              <a:t>3. Target High-Efficiency Zones</a:t>
            </a:r>
            <a:endParaRPr lang="en-US" sz="2700" dirty="0"/>
          </a:p>
        </p:txBody>
      </p:sp>
      <p:sp>
        <p:nvSpPr>
          <p:cNvPr id="13" name="Text 11"/>
          <p:cNvSpPr/>
          <p:nvPr/>
        </p:nvSpPr>
        <p:spPr>
          <a:xfrm>
            <a:off x="9870638" y="3196828"/>
            <a:ext cx="3766066" cy="1402080"/>
          </a:xfrm>
          <a:prstGeom prst="rect">
            <a:avLst/>
          </a:prstGeom>
          <a:noFill/>
          <a:ln/>
        </p:spPr>
        <p:txBody>
          <a:bodyPr wrap="square" lIns="0" tIns="0" rIns="0" bIns="0" rtlCol="0" anchor="t"/>
          <a:lstStyle/>
          <a:p>
            <a:pPr marL="0" indent="0" algn="l">
              <a:lnSpc>
                <a:spcPts val="2750"/>
              </a:lnSpc>
              <a:buNone/>
            </a:pPr>
            <a:r>
              <a:rPr lang="en-US" sz="1700" dirty="0">
                <a:solidFill>
                  <a:srgbClr val="FFFFFF"/>
                </a:solidFill>
                <a:latin typeface="Inter" pitchFamily="34" charset="0"/>
                <a:ea typeface="Inter" pitchFamily="34" charset="-122"/>
                <a:cs typeface="Inter" pitchFamily="34" charset="-120"/>
              </a:rPr>
              <a:t>High tip-efficiency zones such as Heartland Village/Todt Hill generate exceptional revenue per trip — up to $3 per journey.</a:t>
            </a:r>
            <a:endParaRPr lang="en-US" sz="1700" dirty="0"/>
          </a:p>
        </p:txBody>
      </p:sp>
      <p:sp>
        <p:nvSpPr>
          <p:cNvPr id="14" name="Text 12"/>
          <p:cNvSpPr/>
          <p:nvPr/>
        </p:nvSpPr>
        <p:spPr>
          <a:xfrm>
            <a:off x="9870638" y="4730353"/>
            <a:ext cx="3766066" cy="1752600"/>
          </a:xfrm>
          <a:prstGeom prst="rect">
            <a:avLst/>
          </a:prstGeom>
          <a:noFill/>
          <a:ln/>
        </p:spPr>
        <p:txBody>
          <a:bodyPr wrap="square" lIns="0" tIns="0" rIns="0" bIns="0" rtlCol="0" anchor="t"/>
          <a:lstStyle/>
          <a:p>
            <a:pPr marL="0" indent="0" algn="l">
              <a:lnSpc>
                <a:spcPts val="2750"/>
              </a:lnSpc>
              <a:buNone/>
            </a:pPr>
            <a:r>
              <a:rPr lang="en-US" sz="1700" dirty="0">
                <a:solidFill>
                  <a:srgbClr val="FFFFFF"/>
                </a:solidFill>
                <a:latin typeface="Inter" pitchFamily="34" charset="0"/>
                <a:ea typeface="Inter" pitchFamily="34" charset="-122"/>
                <a:cs typeface="Inter" pitchFamily="34" charset="-120"/>
              </a:rPr>
              <a:t>Supply should be allocated strategically to these areas, particularly during Q2 and Q3, to maximise driver earnings and overall fleet profitability.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1165</Words>
  <Application>Microsoft Macintosh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Petrona Bold</vt:lpstr>
      <vt:lpstr>Petrona Light</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Pawel Miedzinski</cp:lastModifiedBy>
  <cp:revision>7</cp:revision>
  <dcterms:created xsi:type="dcterms:W3CDTF">2025-12-02T14:45:00Z</dcterms:created>
  <dcterms:modified xsi:type="dcterms:W3CDTF">2025-12-03T10:51:22Z</dcterms:modified>
</cp:coreProperties>
</file>